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Wert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Q3/25</c:v>
                  </c:pt>
                  <c:pt idx="1">
                    <c:v>Q4/25</c:v>
                  </c:pt>
                  <c:pt idx="2">
                    <c:v>Q1/26</c:v>
                  </c:pt>
                  <c:pt idx="3">
                    <c:v>Q2/26</c:v>
                  </c:pt>
                  <c:pt idx="4">
                    <c:v>Q3/26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3.4</c:v>
                </c:pt>
                <c:pt idx="2">
                  <c:v>3</c:v>
                </c:pt>
                <c:pt idx="3">
                  <c:v>3.6</c:v>
                </c:pt>
                <c:pt idx="4">
                  <c:v>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Wert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Q3/25</c:v>
                  </c:pt>
                  <c:pt idx="1">
                    <c:v>Q4/25</c:v>
                  </c:pt>
                  <c:pt idx="2">
                    <c:v>Q1/26</c:v>
                  </c:pt>
                  <c:pt idx="3">
                    <c:v>Q2/26</c:v>
                  </c:pt>
                  <c:pt idx="4">
                    <c:v>Q3/26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610</c:v>
                </c:pt>
                <c:pt idx="1">
                  <c:v>740</c:v>
                </c:pt>
                <c:pt idx="2">
                  <c:v>820</c:v>
                </c:pt>
                <c:pt idx="3">
                  <c:v>1050</c:v>
                </c:pt>
                <c:pt idx="4">
                  <c:v>1380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Wert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Q3/25</c:v>
                  </c:pt>
                  <c:pt idx="1">
                    <c:v>Q4/25</c:v>
                  </c:pt>
                  <c:pt idx="2">
                    <c:v>Q1/26</c:v>
                  </c:pt>
                  <c:pt idx="3">
                    <c:v>Q2/26</c:v>
                  </c:pt>
                  <c:pt idx="4">
                    <c:v>Q3/26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Basisszenario</c:v>
                </c:pt>
              </c:strCache>
            </c:strRef>
          </c:tx>
          <c:spPr>
            <a:solidFill>
              <a:srgbClr val="C2410C"/>
            </a:solidFill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-2.4</c:v>
                </c:pt>
                <c:pt idx="1">
                  <c:v>-1.62</c:v>
                </c:pt>
                <c:pt idx="2">
                  <c:v>-0.84</c:v>
                </c:pt>
                <c:pt idx="3">
                  <c:v>-0.06</c:v>
                </c:pt>
                <c:pt idx="4">
                  <c:v>0.72</c:v>
                </c:pt>
                <c:pt idx="5">
                  <c:v>1.5</c:v>
                </c:pt>
                <c:pt idx="6">
                  <c:v>2.28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Nachfrage stagniert</c:v>
                </c:pt>
              </c:strCache>
            </c:strRef>
          </c:tx>
          <c:spPr>
            <a:solidFill>
              <a:srgbClr val="767676"/>
            </a:solidFill>
            <a:ln w="38100" cap="flat">
              <a:solidFill>
                <a:srgbClr val="7676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67676"/>
              </a:solidFill>
              <a:ln w="9525" cap="flat">
                <a:solidFill>
                  <a:srgbClr val="7676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-2.4</c:v>
                </c:pt>
                <c:pt idx="1">
                  <c:v>-1.88</c:v>
                </c:pt>
                <c:pt idx="2">
                  <c:v>-1.36</c:v>
                </c:pt>
                <c:pt idx="3">
                  <c:v>-0.84</c:v>
                </c:pt>
                <c:pt idx="4">
                  <c:v>-0.32</c:v>
                </c:pt>
                <c:pt idx="5">
                  <c:v>0.2</c:v>
                </c:pt>
                <c:pt idx="6">
                  <c:v>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-2.5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Vorab-PDF für den Beirat (5 Personen), Besprechung 20 Minuten. Entscheidung: 2,4 Mio. € für die zweite Montagelinie freigeben und bis dahin das Rahmenschweißen auslagern.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Berechnet: +26 % = 3,9 / 3,1 − 1; 54 T€ = 300 Stück × 180 € je Rad pro Quartal. Übrige Zahlen unverändert aus den Quellen.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Diagramme zeigen Quartalswerte Q3/25 bis Q3/26, hervorgehoben ist Q3/26. Berechnet: 3,9 / 3,1 = 1,26; 1.380 / 610 = 2,26.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Kapazität Linie 1: 1.150 Stück pro Quartal, Q3/26 produziert: 1.120 (97 %). Freie Kapazität 30 Stück ist berechnet.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Stornos wegen Lieferzeit: Q2/26 64, Q3/26 118. Entgangener Umsatz Q3: 118 × 3.300 € = 389.400 €, gerundet 0,39 Mio.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Wasserfall aus Formen gebaut, Achse beginnt bei 30 % (auf der Folie benannt, Balkenunterbrechung an Start- und Endbalken). Summe der Bausteine: 2,1 + 1,4 + 0,5 + 0,3 = 4,3 Punkte. Quartalswerte der Marge: 38,2; 37,5; 36,1; 34,8; 33,9.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Amortisation laut Szenariorechnung: 3,1 Jahre (0,78 Mio. € pro Jahr) und 4,6 Jahre (0,52 Mio. € pro Jahr). Der Kurvenverlauf ist eine lineare Vereinfachung ab Produktionsstart (Q2/27), nicht Teil der Szenariorechnung.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Beschluss laut Auftrag: 2,4 Mio. € für die zweite Montagelinie freigeben und bis dahin das Rahmenschweißen auslagern. Keine Alternativoption dargestellt, dafür liegen keine Zahlen 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3 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6 two-exhibi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8 brid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2 freigeben, Rahmenschweißen auslagern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812800"/>
            <a:ext cx="538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Beiratsvorlage Q3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318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über </a:t>
            </a:r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 Mio. €</a:t>
            </a:r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 die zweite Montagelinie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Kessler Lastenräder GmbH, Beirat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1 ist voll und Kunden stornieren: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empfehlen Linie 2 und eine Überbrückung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91059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Kessler wächst, aber Linie 1 ist mit 97 % ausgelastet.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Q3/26: 3,9 Mio. €, +26 % gegenüber Q3/25.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Auftragsbestand 1.380 Stück, Lieferzeit 12 Wochen (Q3/25: 610 Stück, 6 Wochen).</a:t>
            </a:r>
            <a:endParaRPr lang="en-US" sz="1400" dirty="0"/>
          </a:p>
          <a:p>
            <a:pPr algn="l" indent="0" mar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lange Lieferzeit kostet Aufträge, und die Bruttomarge sinkt.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Stornos im Q3/26, rund 0,39 Mio. € entgangener Umsatz.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Bruttomarge von 38,2 % auf 33,9 % gesunken (−4,3 Punkte).</a:t>
            </a:r>
            <a:endParaRPr lang="en-US" sz="1400" dirty="0"/>
          </a:p>
          <a:p>
            <a:pPr algn="l" indent="0" mar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2 rechnet sich auch ohne weiteres Wachstum.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 Mio. € Invest, +900 Stück pro Quartal ab Q2/27.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Amortisation 3,1 Jahre (Basis), 4,6 Jahre (Nachfrage stagniert).</a:t>
            </a:r>
            <a:endParaRPr lang="en-US" sz="1400" dirty="0"/>
          </a:p>
          <a:p>
            <a:pPr algn="l" indent="0" mar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Beschlussvorschlag: Linie 2 freigeben, bis dahin das Rahmenschweißen auslagern.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Auslagerung: +300 Stück pro Quartal nach 8 Wochen, 54 T€ Mehrkosten pro Quartal.</a:t>
            </a:r>
            <a:endParaRPr lang="en-US" sz="1400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Liquidität: 5,1 Mio. € Kasse, 2,0 Mio. € Kreditlinie ungenutzt.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ERP-Export Controlling, Stand 06.10.2026; Vertriebs-CRM, Stand 06.10.2026; Angebot Anlagenlieferant, 18.09.2026; Szenariorechnung Controlling, 02.10.2026. Angaben zu Auslagerung, Kasse und Kreditlinie ohne benannte Quelle. Berechnet: Umsatzwachstum (3,9 / 3,1), Mehrkosten Auslagerung (300 Stück × 180 €).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Umsatz wächst um 26 %,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Auftragsbestand hat sich mehr als verdoppelt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53822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je Quartal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260600"/>
            <a:ext cx="53822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Mio. €, +26 % gegenüber Q3/25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5060" y="1981200"/>
            <a:ext cx="53822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Auftragsbestand je Quartal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95060" y="2260600"/>
            <a:ext cx="53822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Stück, 2,3-fach gegenüber Q3/25</a:t>
            </a:r>
            <a:endParaRPr lang="en-US" sz="1100" dirty="0"/>
          </a:p>
        </p:txBody>
      </p:sp>
      <p:graphicFrame>
        <p:nvGraphicFramePr>
          <p:cNvPr id="7" name="Chart 0" descr="Säulendiagramm: Umsatz in Mio. Euro. Q3 2025 3,1; Q4 2025 3,4; Q1 2026 3,0; Q2 2026 3,6; Q3 2026 3,9."/>
          <p:cNvGraphicFramePr/>
          <p:nvPr/>
        </p:nvGraphicFramePr>
        <p:xfrm>
          <a:off x="609600" y="2590800"/>
          <a:ext cx="53822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Säulendiagramm: Auftragsbestand in Stück. Q3 2025 610; Q4 2025 740; Q1 2026 820; Q2 2026 1.050; Q3 2026 1.380."/>
          <p:cNvGraphicFramePr/>
          <p:nvPr/>
        </p:nvGraphicFramePr>
        <p:xfrm>
          <a:off x="6195060" y="2590800"/>
          <a:ext cx="53822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ERP-Export Controlling, Stand 06.10.2026; Vertriebs-CRM, Stand 06.10.2026. Berechnet: +26 % (3,9 / 3,1), 2,3-fach (1.380 / 610).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1 läuft mit 97 % Auslastung,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Lieferzeit hat sich auf 12 Wochen verdoppelt</a:t>
            </a:r>
            <a:endParaRPr lang="en-US" sz="2400" dirty="0"/>
          </a:p>
        </p:txBody>
      </p:sp>
      <p:graphicFrame>
        <p:nvGraphicFramePr>
          <p:cNvPr id="3" name="Chart 0" descr="Säulendiagramm: durchschnittliche Lieferzeit in Wochen. Q3 2025 6; Q4 2025 7; Q1 2026 8; Q2 2026 10; Q3 2026 12."/>
          <p:cNvGraphicFramePr/>
          <p:nvPr/>
        </p:nvGraphicFramePr>
        <p:xfrm>
          <a:off x="609600" y="1981200"/>
          <a:ext cx="724408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056880" y="1981200"/>
            <a:ext cx="0" cy="381000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60080" y="1981200"/>
            <a:ext cx="331724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bedeutet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1 hat kaum Reserve: 1.120 von 1.150 Stück pro Quartal gebaut, das sind 30 Stück frei.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Auftragsbestand von 1.380 Stück ist größer als die Kapazität eines ganzen Quartals.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1676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Durchschnittliche Lieferzeit, Wochen, Q3/25 bis Q3/26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ERP-Export Controlling, Stand 06.10.2026; Vertriebs-CRM, Stand 06.10.2026. Berechnet: 30 Stück (1.150 − 1.120), Auslastung 97 % (1.120 / 1.150).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Stornos wegen Lieferzeit haben sich fast verdoppelt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kosten im Q3 rund 0,39 Mio. € Umsatz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10967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Stornierte Aufträge wegen Lieferzeit, bei durchschnittlich 3.300 € Auftragswert.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048000"/>
            <a:ext cx="35204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191000"/>
            <a:ext cx="3215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Stornos im Q2/26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33240" y="3048000"/>
            <a:ext cx="35204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333240" y="4191000"/>
            <a:ext cx="3215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Stornos im Q3/26, +84 % gegenüber Q2/26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56880" y="3048000"/>
            <a:ext cx="35204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0,39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056880" y="4191000"/>
            <a:ext cx="3215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Mio. € entgangener Umsatz im Q3/26 (118 × 3.300 €)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Vertriebs-CRM, Stand 06.10.2026. Berechnet: +84 % (118 / 64), 0,39 Mio. € (118 × 3.300 € = 389.400 €).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Bruttomarge fiel um 4,3 Punkte,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davon durch Batteriepreise und Überstunden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6377" y="2651760"/>
            <a:ext cx="914400" cy="16662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977" y="4013200"/>
            <a:ext cx="965200" cy="5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9377" y="239776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38,2 %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377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Q3/25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94330" y="2651760"/>
            <a:ext cx="914400" cy="426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7330" y="239776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40330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Batteriepreise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2283" y="3078480"/>
            <a:ext cx="914400" cy="284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5283" y="282448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68283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Überstunden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50237" y="3362960"/>
            <a:ext cx="914400" cy="101600"/>
          </a:xfrm>
          <a:prstGeom prst="rect">
            <a:avLst/>
          </a:prstGeom>
          <a:solidFill>
            <a:srgbClr val="949494"/>
          </a:solidFill>
          <a:ln w="12700">
            <a:solidFill>
              <a:srgbClr val="9494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3237" y="310896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96237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78190" y="3464560"/>
            <a:ext cx="914400" cy="60960"/>
          </a:xfrm>
          <a:prstGeom prst="rect">
            <a:avLst/>
          </a:prstGeom>
          <a:solidFill>
            <a:srgbClr val="949494"/>
          </a:solidFill>
          <a:ln w="12700">
            <a:solidFill>
              <a:srgbClr val="9494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51190" y="321056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24190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Produktmix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06143" y="3525520"/>
            <a:ext cx="914400" cy="79248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80743" y="4013200"/>
            <a:ext cx="965200" cy="5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79143" y="327152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33,9 %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952143" y="44196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Q3/26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600" y="4318000"/>
            <a:ext cx="10972800" cy="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9600" y="20320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Achse gekürzt, beginnt bei 30 %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4927600"/>
            <a:ext cx="331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Batteriepreise (−2,1) und Überstunden (−1,4) erklären 3,5 der 4,3 Punkte.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33240" y="4927600"/>
            <a:ext cx="331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Fracht (−0,5) und Produktmix (−0,3) machen zusammen 0,8 Punkte aus.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56880" y="4927600"/>
            <a:ext cx="331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Marge sinkt in jedem Quartal: 38,2 / 37,5 / 36,1 / 34,8 / 33,9 %.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9600" y="1676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Bruttomarge, %, Q3/25 bis Q3/26, Veränderung in Prozentpunkten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ERP-Export Controlling, Stand 06.10.2026. Berechnet: Summe 3,5 (2,1 + 1,4) und 0,8 (0,5 + 0,3).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2 amortisiert sich in 3,1 Jahren,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stagnierender Nachfrage in 4,6 Jahren</a:t>
            </a:r>
            <a:endParaRPr lang="en-US" sz="2400" dirty="0"/>
          </a:p>
        </p:txBody>
      </p:sp>
      <p:graphicFrame>
        <p:nvGraphicFramePr>
          <p:cNvPr id="3" name="Chart 0" descr="Liniendiagramm: kumulierter Nettobeitrag Linie 2 in Mio. Euro über sechs Jahre ab Produktionsstart. Im Basisszenario wird Null nach 3,1 Jahren erreicht, bei stagnierender Nachfrage nach 4,6 Jahren."/>
          <p:cNvGraphicFramePr/>
          <p:nvPr/>
        </p:nvGraphicFramePr>
        <p:xfrm>
          <a:off x="609600" y="1981200"/>
          <a:ext cx="533908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24880" y="2057400"/>
            <a:ext cx="177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0,78 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 Jahre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24880" y="3200400"/>
            <a:ext cx="177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Stagnation: 0,52 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 Jahre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056880" y="1981200"/>
            <a:ext cx="0" cy="381000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60080" y="1981200"/>
            <a:ext cx="331724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für den Beschluss heißt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Basisszenario ist die Investition nach 3,1 Jahren zurückverdient (0,78 Mio. 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weiteres Nachfragewachstum dauert es 4,6 Jahre (0,52 Mio. 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Kasse von 5,1 Mio. € deckt die 2,4 Mio. €, die Kreditlinie von 2,0 Mio. € ist ungenutzt.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1676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Kumulierter Nettobeitrag Linie 2 nach Investition, Mio. €, Jahre ab Produktionsstart (linear gerechnet)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Szenariorechnung Controlling, 02.10.2026; Angebot Anlagenlieferant, 18.09.2026. Angaben zu Kasse und Kreditlinie ohne benannte Quelle. Verlauf berechnet: −2,4 Mio. € Invest plus Nettobeitrag × Jahre, linear ab Produktionsstart (Vereinfachung).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beantragen 2,4 Mio. € für Linie 2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bis Q2/27 die Auslagerung des Schweißens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471420" y="1981200"/>
            <a:ext cx="4451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Überbrückung: Rahmenschweißen auslagern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125970" y="1981200"/>
            <a:ext cx="4451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Dauerlösung: zweite Montagelinie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2336800"/>
            <a:ext cx="10972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2463800"/>
            <a:ext cx="16586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Kapazität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24638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 Stück pro Quartal, wirksam nach 8 Wochen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25970" y="24638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+900 Stück pro Quartal ab Q2/27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600" y="3175000"/>
            <a:ext cx="10972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600" y="3302000"/>
            <a:ext cx="16586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71420" y="33020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Mehrkosten 180 € je Rad, rund 54 T€ pro Quartal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25970" y="33020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2,4 Mio. 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" y="4013200"/>
            <a:ext cx="10972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" y="4140200"/>
            <a:ext cx="16586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71420" y="41402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Gilt, bis Linie 2 anläuft; ersetzt sie nicht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25970" y="4140200"/>
            <a:ext cx="4451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Nettobeitrag 0,78 Mio. € pro Jahr, Amortisation 3,1 Jahre (Stagnation: 0,52 Mio. €, 4,6 Jahre)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600" y="4851400"/>
            <a:ext cx="10972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49784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Beschlussvorschlag: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 Mio. € für Linie 2 freigeben, bis dahin das Rahmenschweißen auslagern.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Liquidität: 5,1 Mio. € Kasse und 2,0 Mio. € ungenutzte Kreditlinie.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Angebot Anlagenlieferant, 18.09.2026; Szenariorechnung Controlling, 02.10.2026. Angaben zu Auslagerung, Kasse und Kreditlinie ohne benannte Quelle. Berechnet: 54 T€ pro Quartal (300 Stück × 180 €).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Beiratsvorlage Q3 2026: Zweite Montagelinie</dc:title>
  <dc:subject>PptxGenJS Presentation</dc:subject>
  <dc:creator>Kessler Lastenräder GmbH</dc:creator>
  <cp:lastModifiedBy>Kessler Lastenräder GmbH</cp:lastModifiedBy>
  <cp:revision>1</cp:revision>
  <dcterms:created xsi:type="dcterms:W3CDTF">2026-09-29T16:48:34Z</dcterms:created>
  <dcterms:modified xsi:type="dcterms:W3CDTF">2026-09-29T16:48:34Z</dcterms:modified>
</cp:coreProperties>
</file>