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Schalterkunden je Tag</c:v>
                </c:pt>
              </c:strCache>
            </c:strRef>
          </c:tx>
          <c:spPr>
            <a:solidFill>
              <a:srgbClr val="9494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2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3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4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5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6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7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8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39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40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dPt>
            <c:idx val="41"/>
            <c:invertIfNegative val="0"/>
            <c:bubble3D val="0"/>
            <c:spPr>
              <a:solidFill>
                <a:srgbClr val="173D30"/>
              </a:solidFill>
              <a:effectLst/>
            </c:spPr>
          </c:dPt>
          <c:cat>
            <c:multiLvlStrRef>
              <c:f>Sheet1!$A$2:$A$43</c:f>
              <c:multiLvlStrCache>
                <c:ptCount val="42"/>
                <c:lvl>
                  <c:pt idx="0">
                    <c:v>F1</c:v>
                  </c:pt>
                  <c:pt idx="1">
                    <c:v>F2</c:v>
                  </c:pt>
                  <c:pt idx="2">
                    <c:v>F3</c:v>
                  </c:pt>
                  <c:pt idx="3">
                    <c:v>F4</c:v>
                  </c:pt>
                  <c:pt idx="4">
                    <c:v>F5</c:v>
                  </c:pt>
                  <c:pt idx="5">
                    <c:v>F6</c:v>
                  </c:pt>
                  <c:pt idx="6">
                    <c:v>F7</c:v>
                  </c:pt>
                  <c:pt idx="7">
                    <c:v>F8</c:v>
                  </c:pt>
                  <c:pt idx="8">
                    <c:v>F9</c:v>
                  </c:pt>
                  <c:pt idx="9">
                    <c:v>F10</c:v>
                  </c:pt>
                  <c:pt idx="10">
                    <c:v>F11</c:v>
                  </c:pt>
                  <c:pt idx="11">
                    <c:v>F12</c:v>
                  </c:pt>
                  <c:pt idx="12">
                    <c:v>F13</c:v>
                  </c:pt>
                  <c:pt idx="13">
                    <c:v>F14</c:v>
                  </c:pt>
                  <c:pt idx="14">
                    <c:v>F15</c:v>
                  </c:pt>
                  <c:pt idx="15">
                    <c:v>F16</c:v>
                  </c:pt>
                  <c:pt idx="16">
                    <c:v>F17</c:v>
                  </c:pt>
                  <c:pt idx="17">
                    <c:v>F18</c:v>
                  </c:pt>
                  <c:pt idx="18">
                    <c:v>F19</c:v>
                  </c:pt>
                  <c:pt idx="19">
                    <c:v>F20</c:v>
                  </c:pt>
                  <c:pt idx="20">
                    <c:v>F21</c:v>
                  </c:pt>
                  <c:pt idx="21">
                    <c:v>F22</c:v>
                  </c:pt>
                  <c:pt idx="22">
                    <c:v>F23</c:v>
                  </c:pt>
                  <c:pt idx="23">
                    <c:v>F24</c:v>
                  </c:pt>
                  <c:pt idx="24">
                    <c:v>F25</c:v>
                  </c:pt>
                  <c:pt idx="25">
                    <c:v>F26</c:v>
                  </c:pt>
                  <c:pt idx="26">
                    <c:v>F27</c:v>
                  </c:pt>
                  <c:pt idx="27">
                    <c:v>F28</c:v>
                  </c:pt>
                  <c:pt idx="28">
                    <c:v>F29</c:v>
                  </c:pt>
                  <c:pt idx="29">
                    <c:v>F30</c:v>
                  </c:pt>
                  <c:pt idx="30">
                    <c:v>F31</c:v>
                  </c:pt>
                  <c:pt idx="31">
                    <c:v>F32</c:v>
                  </c:pt>
                  <c:pt idx="32">
                    <c:v>F33</c:v>
                  </c:pt>
                  <c:pt idx="33">
                    <c:v>F34</c:v>
                  </c:pt>
                  <c:pt idx="34">
                    <c:v>F35</c:v>
                  </c:pt>
                  <c:pt idx="35">
                    <c:v>F36</c:v>
                  </c:pt>
                  <c:pt idx="36">
                    <c:v>F37</c:v>
                  </c:pt>
                  <c:pt idx="37">
                    <c:v>F38</c:v>
                  </c:pt>
                  <c:pt idx="38">
                    <c:v>F39</c:v>
                  </c:pt>
                  <c:pt idx="39">
                    <c:v>F40</c:v>
                  </c:pt>
                  <c:pt idx="40">
                    <c:v>F41</c:v>
                  </c:pt>
                  <c:pt idx="41">
                    <c:v>F42</c:v>
                  </c:pt>
                </c:lvl>
              </c:multiLvlStrCache>
            </c:multiLvl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182</c:v>
                </c:pt>
                <c:pt idx="1">
                  <c:v>170</c:v>
                </c:pt>
                <c:pt idx="2">
                  <c:v>161</c:v>
                </c:pt>
                <c:pt idx="3">
                  <c:v>155</c:v>
                </c:pt>
                <c:pt idx="4">
                  <c:v>149</c:v>
                </c:pt>
                <c:pt idx="5">
                  <c:v>140</c:v>
                </c:pt>
                <c:pt idx="6">
                  <c:v>133</c:v>
                </c:pt>
                <c:pt idx="7">
                  <c:v>128</c:v>
                </c:pt>
                <c:pt idx="8">
                  <c:v>120</c:v>
                </c:pt>
                <c:pt idx="9">
                  <c:v>114</c:v>
                </c:pt>
                <c:pt idx="10">
                  <c:v>109</c:v>
                </c:pt>
                <c:pt idx="11">
                  <c:v>103</c:v>
                </c:pt>
                <c:pt idx="12">
                  <c:v>98</c:v>
                </c:pt>
                <c:pt idx="13">
                  <c:v>94</c:v>
                </c:pt>
                <c:pt idx="14">
                  <c:v>90</c:v>
                </c:pt>
                <c:pt idx="15">
                  <c:v>86</c:v>
                </c:pt>
                <c:pt idx="16">
                  <c:v>81</c:v>
                </c:pt>
                <c:pt idx="17">
                  <c:v>77</c:v>
                </c:pt>
                <c:pt idx="18">
                  <c:v>74</c:v>
                </c:pt>
                <c:pt idx="19">
                  <c:v>70</c:v>
                </c:pt>
                <c:pt idx="20">
                  <c:v>66</c:v>
                </c:pt>
                <c:pt idx="21">
                  <c:v>62</c:v>
                </c:pt>
                <c:pt idx="22">
                  <c:v>58</c:v>
                </c:pt>
                <c:pt idx="23">
                  <c:v>55</c:v>
                </c:pt>
                <c:pt idx="24">
                  <c:v>52</c:v>
                </c:pt>
                <c:pt idx="25">
                  <c:v>48</c:v>
                </c:pt>
                <c:pt idx="26">
                  <c:v>44</c:v>
                </c:pt>
                <c:pt idx="27">
                  <c:v>41</c:v>
                </c:pt>
                <c:pt idx="28">
                  <c:v>39</c:v>
                </c:pt>
                <c:pt idx="29">
                  <c:v>37</c:v>
                </c:pt>
                <c:pt idx="30">
                  <c:v>35</c:v>
                </c:pt>
                <c:pt idx="31">
                  <c:v>33</c:v>
                </c:pt>
                <c:pt idx="32">
                  <c:v>31</c:v>
                </c:pt>
                <c:pt idx="33">
                  <c:v>29</c:v>
                </c:pt>
                <c:pt idx="34">
                  <c:v>27</c:v>
                </c:pt>
                <c:pt idx="35">
                  <c:v>26</c:v>
                </c:pt>
                <c:pt idx="36">
                  <c:v>24</c:v>
                </c:pt>
                <c:pt idx="37">
                  <c:v>22</c:v>
                </c:pt>
                <c:pt idx="38">
                  <c:v>21</c:v>
                </c:pt>
                <c:pt idx="39">
                  <c:v>19</c:v>
                </c:pt>
                <c:pt idx="40">
                  <c:v>18</c:v>
                </c:pt>
                <c:pt idx="4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173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4572000"/>
            <a:ext cx="9110091" cy="711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in einzelnes Haus am Horizont hinter einem Rapsfeld im Tümlauer Koog, weiter Him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4064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4572000"/>
            <a:ext cx="911009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 bleiben, 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 erreichbar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5334000"/>
            <a:ext cx="91100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Filialnetz 2027 · Entscheidungsvorlage für den Vorstand · Beispieldaten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6350000"/>
            <a:ext cx="508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Foto: Matthias Süßen, CC BY-SA 4.0, Wikimedia Commons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Filialen </a:t>
            </a:r>
            <a:pPr algn="l" indent="0" marL="0">
              <a:buNone/>
            </a:pPr>
            <a:r>
              <a:rPr lang="en-US" sz="2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haben weniger als 40 Schalterkunden am Tag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Schalterkunden je Filiale und Werktag, Mittel Januar bis August 2026, 42 Filialen</a:t>
            </a:r>
            <a:endParaRPr lang="en-US" sz="1200" dirty="0"/>
          </a:p>
        </p:txBody>
      </p:sp>
      <p:graphicFrame>
        <p:nvGraphicFramePr>
          <p:cNvPr id="4" name="Chart 0" descr="Säulen für 42 Filialen, absteigend von 182 bis 16 Schalterkunden je Tag; die 14 Filialen unter 40 sind hervorgehoben"/>
          <p:cNvGraphicFramePr/>
          <p:nvPr/>
        </p:nvGraphicFramePr>
        <p:xfrm>
          <a:off x="609600" y="2082800"/>
          <a:ext cx="7247433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60233" y="2184400"/>
            <a:ext cx="0" cy="3302000"/>
          </a:xfrm>
          <a:prstGeom prst="line">
            <a:avLst/>
          </a:prstGeom>
          <a:noFill/>
          <a:ln w="19050">
            <a:solidFill>
              <a:srgbClr val="173D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14233" y="2184400"/>
            <a:ext cx="32681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14 Filialen tragen 12 % der Schalterbesuche, aber 7,7 Mio. € der Kosten.</a:t>
            </a:r>
            <a:endParaRPr lang="en-US" sz="14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Zehn davon liegen weniger als 12 Minuten von der nächsten größeren Filiale entfernt.</a:t>
            </a:r>
            <a:endParaRPr lang="en-US" sz="14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Sechs liegen in Orten ohne andere Bank: Dort bleibt ein SB-Anker mit Automat und Videoberatung.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Filialcontrolling Nordmark, Januar bis August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2026-09-25T18:51:58Z</dcterms:created>
  <dcterms:modified xsi:type="dcterms:W3CDTF">2026-09-25T18:51:58Z</dcterms:modified>
</cp:coreProperties>
</file>