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Schalterbesuche</c:v>
                </c:pt>
              </c:strCache>
            </c:strRef>
          </c:tx>
          <c:spPr>
            <a:solidFill>
              <a:srgbClr val="1F4A3A"/>
            </a:solidFill>
            <a:ln w="31750" cap="flat">
              <a:solidFill>
                <a:srgbClr val="1F4A3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A3A"/>
              </a:solidFill>
              <a:ln w="9525" cap="flat">
                <a:solidFill>
                  <a:srgbClr val="1F4A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1.62</c:v>
                </c:pt>
                <c:pt idx="2">
                  <c:v>1.55</c:v>
                </c:pt>
                <c:pt idx="3">
                  <c:v>1.51</c:v>
                </c:pt>
                <c:pt idx="4">
                  <c:v>1.46</c:v>
                </c:pt>
                <c:pt idx="5">
                  <c:v>1.4</c:v>
                </c:pt>
                <c:pt idx="6">
                  <c:v>1.35</c:v>
                </c:pt>
                <c:pt idx="7">
                  <c:v>1.3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1C1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Schalterkunden je Tag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6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7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8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39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40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dPt>
            <c:idx val="41"/>
            <c:invertIfNegative val="0"/>
            <c:bubble3D val="0"/>
            <c:spPr>
              <a:solidFill>
                <a:srgbClr val="1F4A3A"/>
              </a:solidFill>
              <a:effectLst/>
            </c:spPr>
          </c:dPt>
          <c:cat>
            <c:multiLvlStrRef>
              <c:f>Sheet1!$A$2:$A$43</c:f>
              <c:multiLvlStrCache>
                <c:ptCount val="42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  <c:pt idx="4">
                    <c:v>F5</c:v>
                  </c:pt>
                  <c:pt idx="5">
                    <c:v>F6</c:v>
                  </c:pt>
                  <c:pt idx="6">
                    <c:v>F7</c:v>
                  </c:pt>
                  <c:pt idx="7">
                    <c:v>F8</c:v>
                  </c:pt>
                  <c:pt idx="8">
                    <c:v>F9</c:v>
                  </c:pt>
                  <c:pt idx="9">
                    <c:v>F10</c:v>
                  </c:pt>
                  <c:pt idx="10">
                    <c:v>F11</c:v>
                  </c:pt>
                  <c:pt idx="11">
                    <c:v>F12</c:v>
                  </c:pt>
                  <c:pt idx="12">
                    <c:v>F13</c:v>
                  </c:pt>
                  <c:pt idx="13">
                    <c:v>F14</c:v>
                  </c:pt>
                  <c:pt idx="14">
                    <c:v>F15</c:v>
                  </c:pt>
                  <c:pt idx="15">
                    <c:v>F16</c:v>
                  </c:pt>
                  <c:pt idx="16">
                    <c:v>F17</c:v>
                  </c:pt>
                  <c:pt idx="17">
                    <c:v>F18</c:v>
                  </c:pt>
                  <c:pt idx="18">
                    <c:v>F19</c:v>
                  </c:pt>
                  <c:pt idx="19">
                    <c:v>F20</c:v>
                  </c:pt>
                  <c:pt idx="20">
                    <c:v>F21</c:v>
                  </c:pt>
                  <c:pt idx="21">
                    <c:v>F22</c:v>
                  </c:pt>
                  <c:pt idx="22">
                    <c:v>F23</c:v>
                  </c:pt>
                  <c:pt idx="23">
                    <c:v>F24</c:v>
                  </c:pt>
                  <c:pt idx="24">
                    <c:v>F25</c:v>
                  </c:pt>
                  <c:pt idx="25">
                    <c:v>F26</c:v>
                  </c:pt>
                  <c:pt idx="26">
                    <c:v>F27</c:v>
                  </c:pt>
                  <c:pt idx="27">
                    <c:v>F28</c:v>
                  </c:pt>
                  <c:pt idx="28">
                    <c:v>F29</c:v>
                  </c:pt>
                  <c:pt idx="29">
                    <c:v>F30</c:v>
                  </c:pt>
                  <c:pt idx="30">
                    <c:v>F31</c:v>
                  </c:pt>
                  <c:pt idx="31">
                    <c:v>F32</c:v>
                  </c:pt>
                  <c:pt idx="32">
                    <c:v>F33</c:v>
                  </c:pt>
                  <c:pt idx="33">
                    <c:v>F34</c:v>
                  </c:pt>
                  <c:pt idx="34">
                    <c:v>F35</c:v>
                  </c:pt>
                  <c:pt idx="35">
                    <c:v>F36</c:v>
                  </c:pt>
                  <c:pt idx="36">
                    <c:v>F37</c:v>
                  </c:pt>
                  <c:pt idx="37">
                    <c:v>F38</c:v>
                  </c:pt>
                  <c:pt idx="38">
                    <c:v>F39</c:v>
                  </c:pt>
                  <c:pt idx="39">
                    <c:v>F40</c:v>
                  </c:pt>
                  <c:pt idx="40">
                    <c:v>F41</c:v>
                  </c:pt>
                  <c:pt idx="41">
                    <c:v>F42</c:v>
                  </c:pt>
                </c:lvl>
              </c:multiLvlStrCache>
            </c:multiLvl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182</c:v>
                </c:pt>
                <c:pt idx="1">
                  <c:v>170</c:v>
                </c:pt>
                <c:pt idx="2">
                  <c:v>161</c:v>
                </c:pt>
                <c:pt idx="3">
                  <c:v>155</c:v>
                </c:pt>
                <c:pt idx="4">
                  <c:v>149</c:v>
                </c:pt>
                <c:pt idx="5">
                  <c:v>140</c:v>
                </c:pt>
                <c:pt idx="6">
                  <c:v>133</c:v>
                </c:pt>
                <c:pt idx="7">
                  <c:v>128</c:v>
                </c:pt>
                <c:pt idx="8">
                  <c:v>120</c:v>
                </c:pt>
                <c:pt idx="9">
                  <c:v>114</c:v>
                </c:pt>
                <c:pt idx="10">
                  <c:v>109</c:v>
                </c:pt>
                <c:pt idx="11">
                  <c:v>103</c:v>
                </c:pt>
                <c:pt idx="12">
                  <c:v>98</c:v>
                </c:pt>
                <c:pt idx="13">
                  <c:v>94</c:v>
                </c:pt>
                <c:pt idx="14">
                  <c:v>90</c:v>
                </c:pt>
                <c:pt idx="15">
                  <c:v>86</c:v>
                </c:pt>
                <c:pt idx="16">
                  <c:v>81</c:v>
                </c:pt>
                <c:pt idx="17">
                  <c:v>77</c:v>
                </c:pt>
                <c:pt idx="18">
                  <c:v>74</c:v>
                </c:pt>
                <c:pt idx="19">
                  <c:v>70</c:v>
                </c:pt>
                <c:pt idx="20">
                  <c:v>66</c:v>
                </c:pt>
                <c:pt idx="21">
                  <c:v>62</c:v>
                </c:pt>
                <c:pt idx="22">
                  <c:v>58</c:v>
                </c:pt>
                <c:pt idx="23">
                  <c:v>55</c:v>
                </c:pt>
                <c:pt idx="24">
                  <c:v>52</c:v>
                </c:pt>
                <c:pt idx="25">
                  <c:v>48</c:v>
                </c:pt>
                <c:pt idx="26">
                  <c:v>44</c:v>
                </c:pt>
                <c:pt idx="27">
                  <c:v>41</c:v>
                </c:pt>
                <c:pt idx="28">
                  <c:v>39</c:v>
                </c:pt>
                <c:pt idx="29">
                  <c:v>37</c:v>
                </c:pt>
                <c:pt idx="30">
                  <c:v>35</c:v>
                </c:pt>
                <c:pt idx="31">
                  <c:v>33</c:v>
                </c:pt>
                <c:pt idx="32">
                  <c:v>31</c:v>
                </c:pt>
                <c:pt idx="33">
                  <c:v>29</c:v>
                </c:pt>
                <c:pt idx="34">
                  <c:v>27</c:v>
                </c:pt>
                <c:pt idx="35">
                  <c:v>26</c:v>
                </c:pt>
                <c:pt idx="36">
                  <c:v>24</c:v>
                </c:pt>
                <c:pt idx="37">
                  <c:v>22</c:v>
                </c:pt>
                <c:pt idx="38">
                  <c:v>21</c:v>
                </c:pt>
                <c:pt idx="39">
                  <c:v>19</c:v>
                </c:pt>
                <c:pt idx="40">
                  <c:v>18</c:v>
                </c:pt>
                <c:pt idx="4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3 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7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9 before-af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2 c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8 brid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1 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1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4572000"/>
            <a:ext cx="9110091" cy="711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in einzelnes Haus am Horizont hinter einem Rapsfeld im Tümlauer Koog, weiter Him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4064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4572000"/>
            <a:ext cx="911009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 bleiben, 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anders erreichbar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5334000"/>
            <a:ext cx="91100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Filialnetz 2027 · Entscheidungsvorlage für den Vorstand · Beispieldaten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6350000"/>
            <a:ext cx="508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Matthias Süßen, CC BY-SA 4.0, Wikimedia Commons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Umbau spart 6,6 Mio. € im Jahr und hält 97 % der Kunden in Reichweite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1930400"/>
            <a:ext cx="9110091" cy="0"/>
          </a:xfrm>
          <a:prstGeom prst="line">
            <a:avLst/>
          </a:prstGeom>
          <a:noFill/>
          <a:ln w="19050">
            <a:solidFill>
              <a:srgbClr val="1F4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600" y="2032000"/>
            <a:ext cx="911009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Schalterbesuche sind seit 2019 um 38 % gesunken; 14 Filialen haben weniger als 40 Kunden am Tag.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692400"/>
            <a:ext cx="911009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14 Filialen tragen 12 % der Besuche, aber 7,7 Mio. € der Kosten.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600" y="3175000"/>
            <a:ext cx="9110091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600" y="3276600"/>
            <a:ext cx="911009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SB-Anker und zwei Beratungsbusse halten 97 % der Kunden in 15 Minuten Reichweite einer Filiale oder eines Ankers.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3937000"/>
            <a:ext cx="911009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sind es 99 %. In der Pilotregion Angeln blieben 92 % der Kunden.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600" y="4419600"/>
            <a:ext cx="9110091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600" y="4521200"/>
            <a:ext cx="911009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Umbau spart netto 6,6 Mio. € im Jahr bei 3,2 Mio. € Einmalkosten und ist Ende 2027 abgeschlossen.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5181600"/>
            <a:ext cx="911009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zu entscheiden: der Umbau und die Freigabe der ersten Welle mit 5 Filialen.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Filialcontrolling und Kostenrechnung Nordmark,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Schalterbesuche sind seit 2019 um 38 % gesunken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Schalterbesuche in allen 42 Filialen, Mio. je Jahr, 2019–2026 (2026 hochgerechnet)</a:t>
            </a:r>
            <a:endParaRPr lang="en-US" sz="1100" dirty="0"/>
          </a:p>
        </p:txBody>
      </p:sp>
      <p:graphicFrame>
        <p:nvGraphicFramePr>
          <p:cNvPr id="4" name="Chart 0" descr="Linie 2019 bis 2026: Schalterbesuche fallen von 2,10 auf 1,30 Millionen im Jahr, am stärksten 2020"/>
          <p:cNvGraphicFramePr/>
          <p:nvPr/>
        </p:nvGraphicFramePr>
        <p:xfrm>
          <a:off x="609600" y="1981200"/>
          <a:ext cx="7247433" cy="375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0233" y="1981200"/>
            <a:ext cx="3522116" cy="3759200"/>
          </a:xfrm>
          <a:prstGeom prst="rect">
            <a:avLst/>
          </a:prstGeom>
          <a:solidFill>
            <a:srgbClr val="EEF2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63433" y="2184400"/>
            <a:ext cx="31157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bedeutet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63433" y="2540000"/>
            <a:ext cx="3115716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größten Einbruch brachte 2020; die Besuche kamen danach nicht zurück.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71 % der Kundinnen und Kunden nutzen Online-Banking, 2019 waren es 48 %.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Beratungstermine blieben stabil bei 41.000 im Jahr: Gefragt ist Beratung, nicht der Schalter.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Filialcontrolling Nordmark, 2019–2026; Digitalbericht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Filialen haben weniger als 40 Schalterkunden am Tag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Schalterkunden je Filiale und Werktag, Mittel Januar bis August 2026, 42 Filialen</a:t>
            </a:r>
            <a:endParaRPr lang="en-US" sz="1100" dirty="0"/>
          </a:p>
        </p:txBody>
      </p:sp>
      <p:graphicFrame>
        <p:nvGraphicFramePr>
          <p:cNvPr id="4" name="Chart 0" descr="Säulen für 42 Filialen, absteigend von 182 bis 16 Schalterkunden je Tag; die 14 Filialen unter 40 sind hervorgehoben"/>
          <p:cNvGraphicFramePr/>
          <p:nvPr/>
        </p:nvGraphicFramePr>
        <p:xfrm>
          <a:off x="609600" y="1981200"/>
          <a:ext cx="7247433" cy="375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0233" y="1981200"/>
            <a:ext cx="3522116" cy="3759200"/>
          </a:xfrm>
          <a:prstGeom prst="rect">
            <a:avLst/>
          </a:prstGeom>
          <a:solidFill>
            <a:srgbClr val="EEF2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63433" y="2184400"/>
            <a:ext cx="31157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bedeutet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63433" y="2540000"/>
            <a:ext cx="3115716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14 Filialen tragen 12 % der Schalterbesuche, aber 7,7 Mio. € der Kosten.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Zehn davon liegen weniger als 12 Minuten von der nächsten größeren Filiale entfernt.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liegen in Orten ohne andere Bank: Dort bleibt ein SB-Anker mit Automat und Videoberatung.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Filialcontrolling Nordmark, Januar bis August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14 Filialen kosten 7,7 Mio. € im Jahr bei 12 % der Schalterbesuche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Filialen mit weniger als 40 Schalterkunden je Tag, nach Region, 2026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98120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83080"/>
                <a:gridCol w="1783080"/>
                <a:gridCol w="1737360"/>
                <a:gridCol w="1554480"/>
              </a:tblGrid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Filialen heute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davon unter 40 Kunden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Schalterkunden je Tag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 Mio. € je Jahr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nächste Filiale, Minuten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Schwansen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Hüttener Berge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Küste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9600" y="4826000"/>
            <a:ext cx="1097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Schalterbesuch kostet in diesen 14 Filialen 82 €, im ganzen Netz 36 €.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5791200"/>
            <a:ext cx="1097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je Besuch: Kosten je Jahr geteilt durch Schalterkunden je Tag mal 250 Werktage; Netz gesamt 28,6 Mio. € bei 3.137 Kunden je Tag.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Kostenrechnung und Filialcontrolling Nordmark,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SB-Anker und Beratungsbusse ersetzen den Schalter, nicht die Nähe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472258" y="1981200"/>
            <a:ext cx="4453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128904" y="1981200"/>
            <a:ext cx="4453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2027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2286000"/>
            <a:ext cx="10972800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24384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Bargeld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72258" y="2438400"/>
            <a:ext cx="41486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Schalter in 42 Filialen, geöffnet an 3 bis 5 Tagen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24104" y="2476500"/>
            <a:ext cx="152400" cy="203200"/>
          </a:xfrm>
          <a:prstGeom prst="chevron">
            <a:avLst/>
          </a:prstGeom>
          <a:solidFill>
            <a:srgbClr val="1F4A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28904" y="2438400"/>
            <a:ext cx="4453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 in 28 Filialen und 6 SB-Ankern, rund um die Uhr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" y="3352800"/>
            <a:ext cx="1097280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9600" y="35052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72258" y="3505200"/>
            <a:ext cx="41486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Termin in jeder Filiale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24104" y="3543300"/>
            <a:ext cx="152400" cy="203200"/>
          </a:xfrm>
          <a:prstGeom prst="chevron">
            <a:avLst/>
          </a:prstGeom>
          <a:solidFill>
            <a:srgbClr val="1F4A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28904" y="3505200"/>
            <a:ext cx="4453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28 Filialen, per Video im SB-Anker und zu Hause durch 2 Beratungsbusse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600" y="4419600"/>
            <a:ext cx="1097280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600" y="4572000"/>
            <a:ext cx="16594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72258" y="4572000"/>
            <a:ext cx="41486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Überweisung und Daueraufträge am Schalter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24104" y="4610100"/>
            <a:ext cx="152400" cy="203200"/>
          </a:xfrm>
          <a:prstGeom prst="chevron">
            <a:avLst/>
          </a:prstGeom>
          <a:solidFill>
            <a:srgbClr val="1F4A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28904" y="4572000"/>
            <a:ext cx="44534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am SB-Terminal oder am Telefon mit Rückruf in 2 Stunden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600" y="5486400"/>
            <a:ext cx="1097280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Konzept Filialnetz 2027, Nordmark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der Pilotregion Angeln blieben 92 % der Kunden nach dem Umbau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44534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im Pilot umgesetzt wurde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336800"/>
            <a:ext cx="4453446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Filialen im Frühjahr 2024 zu SB-Ankern umgebaut</a:t>
            </a:r>
            <a:endParaRPr lang="en-US" sz="14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Videoberatung im Anker, Montag bis Samstag 8 bis 20 Uhr</a:t>
            </a:r>
            <a:endParaRPr lang="en-US" sz="14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Beratungsbus an zwei Tagen je Woche in sechs Dörfern</a:t>
            </a:r>
            <a:endParaRPr lang="en-US" sz="1400" dirty="0"/>
          </a:p>
        </p:txBody>
      </p:sp>
      <p:pic>
        <p:nvPicPr>
          <p:cNvPr id="5" name="Image 0" descr="Symbolbild: hügelige Felder mit Baumgruppen bei Winde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246" y="1981200"/>
            <a:ext cx="6316104" cy="19737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66246" y="4005782"/>
            <a:ext cx="63161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Symbolbild: Windeby. Foto: Dietmar Rabich, CC BY-SA 4.0, Wikimedia Commons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266246" y="4310582"/>
            <a:ext cx="19699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266246" y="4742382"/>
            <a:ext cx="196990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Kunden blieben, in der Vergleichsregion 95 %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39347" y="4310582"/>
            <a:ext cx="19699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+6 %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439347" y="4742382"/>
            <a:ext cx="196990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Beratungstermine als vor dem Umbau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12448" y="4310582"/>
            <a:ext cx="19699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Monate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612448" y="4742382"/>
            <a:ext cx="196990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die Beschwerden wieder auf Vorjahresniveau lagen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Pilotauswertung Angeln, Frühjahr 2024 bis Frühjahr 2025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Umbau spart netto 6,6 Mio. € im Jahr bei 3,2 Mio. € Einmalkosten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 Wirkung ab 2028 in Mio. 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3600" y="2400300"/>
            <a:ext cx="1066800" cy="29337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14630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5000" y="54356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der 14 Filialen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2400300"/>
            <a:ext cx="1066800" cy="190500"/>
          </a:xfrm>
          <a:prstGeom prst="rect">
            <a:avLst/>
          </a:prstGeom>
          <a:solidFill>
            <a:srgbClr val="A33A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13000" y="214630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54356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6 SB-Anker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5600" y="2590800"/>
            <a:ext cx="1066800" cy="228600"/>
          </a:xfrm>
          <a:prstGeom prst="rect">
            <a:avLst/>
          </a:prstGeom>
          <a:solidFill>
            <a:srgbClr val="A33A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64000" y="233680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7000" y="54356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2 Beratungsbusse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16600" y="2819400"/>
            <a:ext cx="1066800" cy="2514600"/>
          </a:xfrm>
          <a:prstGeom prst="rect">
            <a:avLst/>
          </a:prstGeom>
          <a:solidFill>
            <a:srgbClr val="1F4A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256540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88000" y="54356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Einsparung netto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600" y="5334000"/>
            <a:ext cx="6858000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0233" y="1981200"/>
            <a:ext cx="3522116" cy="3759200"/>
          </a:xfrm>
          <a:prstGeom prst="rect">
            <a:avLst/>
          </a:prstGeom>
          <a:solidFill>
            <a:srgbClr val="EEF2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63433" y="2184400"/>
            <a:ext cx="31157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Einmalkosten 3,2 Mio. €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63433" y="2540000"/>
            <a:ext cx="3115716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Umbau der 6 SB-Anker: 2,1 Mio. €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Beratungsbusse: 1,1 Mio. €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Einmalkosten sind nach knapp sechs Monaten Einsparung gedeckt.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Kostenrechnung Nordmark, Planung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Umbau läuft in drei Wellen bis Ende 2027 und beginnt mit Ihrem Beschluss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600" y="2184400"/>
            <a:ext cx="10972800" cy="0"/>
          </a:xfrm>
          <a:prstGeom prst="line">
            <a:avLst/>
          </a:prstGeom>
          <a:noFill/>
          <a:ln w="9525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2082800"/>
            <a:ext cx="203200" cy="203200"/>
          </a:xfrm>
          <a:prstGeom prst="ellipse">
            <a:avLst/>
          </a:prstGeom>
          <a:solidFill>
            <a:srgbClr val="1F4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600" y="24384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27178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Beschluss des Vorstands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52800" y="2082800"/>
            <a:ext cx="203200" cy="20320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52800" y="24384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52800" y="27178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Welle 1: 5 Filialen in Angeln, 2 SB-Anker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2082800"/>
            <a:ext cx="203200" cy="20320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6000" y="24384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bis Q3 2027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0" y="27178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Welle 2: 5 Filialen an der Küste und in Schwansen, 3 SB-Anker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200" y="2082800"/>
            <a:ext cx="203200" cy="20320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39200" y="2438400"/>
            <a:ext cx="241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39200" y="27178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Welle 3: 4 Filialen in den Hüttener Bergen, 1 SB-Anker, beide Beratungsbusse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600" y="4165600"/>
            <a:ext cx="10972800" cy="660400"/>
          </a:xfrm>
          <a:prstGeom prst="rect">
            <a:avLst/>
          </a:prstGeom>
          <a:solidFill>
            <a:srgbClr val="1F4A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2800" y="4343400"/>
            <a:ext cx="1056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zu entscheiden: Umbau und Freigabe der ersten Welle (5 Filialen, 1,2 Mio. €)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Projektplan Filialnetz 2027, Nordmark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2026-09-25T18:59:45Z</dcterms:created>
  <dcterms:modified xsi:type="dcterms:W3CDTF">2026-09-25T18:59:45Z</dcterms:modified>
</cp:coreProperties>
</file>