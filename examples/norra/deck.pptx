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Tankstellen</c:v>
                </c:pt>
              </c:strCache>
            </c:strRef>
          </c:tx>
          <c:spPr>
            <a:solidFill>
              <a:srgbClr val="7A8A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A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5EA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Benzin und Diesel</c:v>
                  </c:pt>
                  <c:pt idx="1">
                    <c:v>Schnellladeparks</c:v>
                  </c:pt>
                  <c:pt idx="2">
                    <c:v>Wasserstoff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14000</c:v>
                </c:pt>
                <c:pt idx="1">
                  <c:v>5000</c:v>
                </c:pt>
                <c:pt idx="2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500" u="none">
                  <a:solidFill>
                    <a:srgbClr val="0A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A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Minuten</c:v>
                </c:pt>
              </c:strCache>
            </c:strRef>
          </c:tx>
          <c:spPr>
            <a:solidFill>
              <a:srgbClr val="7A8A9A"/>
            </a:solidFill>
            <a:effectLst/>
          </c:spPr>
          <c:invertIfNegative val="0"/>
          <c:dLbls>
            <c:numFmt formatCode="[&lt;2]0.0;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A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25EA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E-Auto, Schnelllader</c:v>
                  </c:pt>
                  <c:pt idx="1">
                    <c:v>Wasserstoff, Säule</c:v>
                  </c:pt>
                  <c:pt idx="2">
                    <c:v>Benziner</c:v>
                  </c:pt>
                  <c:pt idx="3">
                    <c:v>Norra, Kapselwechsel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</c:v>
                </c:pt>
                <c:pt idx="2">
                  <c:v>4</c:v>
                </c:pt>
                <c:pt idx="3">
                  <c:v>1.5</c:v>
                </c:pt>
              </c:numCache>
            </c:numRef>
          </c:val>
        </c:ser>
        <c:dLbls>
          <c:numFmt formatCode="[&lt;2]0.0;0" sourceLinked="0"/>
          <c:txPr>
            <a:bodyPr/>
            <a:lstStyle/>
            <a:p>
              <a:pPr>
                <a:defRPr b="0" i="0" strike="noStrike" sz="1500" u="none">
                  <a:solidFill>
                    <a:srgbClr val="0A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A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Mio. Autos</c:v>
                </c:pt>
              </c:strCache>
            </c:strRef>
          </c:tx>
          <c:spPr>
            <a:solidFill>
              <a:srgbClr val="7A8A9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A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25EA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0.7</c:v>
                </c:pt>
                <c:pt idx="2">
                  <c:v>0.9</c:v>
                </c:pt>
                <c:pt idx="3">
                  <c:v>1.2</c:v>
                </c:pt>
                <c:pt idx="4">
                  <c:v>1.5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500" u="none">
                  <a:solidFill>
                    <a:srgbClr val="0A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9BED2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A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Vorbestellungen</c:v>
                </c:pt>
              </c:strCache>
            </c:strRef>
          </c:tx>
          <c:spPr>
            <a:solidFill>
              <a:srgbClr val="7A8A9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A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25EA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Mai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70</c:v>
                </c:pt>
                <c:pt idx="2">
                  <c:v>130</c:v>
                </c:pt>
                <c:pt idx="3">
                  <c:v>210</c:v>
                </c:pt>
                <c:pt idx="4">
                  <c:v>320</c:v>
                </c:pt>
                <c:pt idx="5">
                  <c:v>450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500" u="none">
                  <a:solidFill>
                    <a:srgbClr val="0A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9BED2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A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</c:v>
                </c:pt>
              </c:strCache>
            </c:strRef>
          </c:tx>
          <c:spPr>
            <a:solidFill>
              <a:srgbClr val="7A8A9A"/>
            </a:solidFill>
            <a:effectLst/>
          </c:spPr>
          <c:invertIfNegative val="0"/>
          <c:dLbls>
            <c:numFmt formatCode="0;−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A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25E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  <c:pt idx="5">
                    <c:v>2032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-38</c:v>
                </c:pt>
                <c:pt idx="1">
                  <c:v>-55</c:v>
                </c:pt>
                <c:pt idx="2">
                  <c:v>-40</c:v>
                </c:pt>
                <c:pt idx="3">
                  <c:v>-12</c:v>
                </c:pt>
                <c:pt idx="4">
                  <c:v>6</c:v>
                </c:pt>
                <c:pt idx="5">
                  <c:v>45</c:v>
                </c:pt>
              </c:numCache>
            </c:numRef>
          </c:val>
        </c:ser>
        <c:dLbls>
          <c:numFmt formatCode="0;−0" sourceLinked="0"/>
          <c:txPr>
            <a:bodyPr/>
            <a:lstStyle/>
            <a:p>
              <a:pPr>
                <a:defRPr b="0" i="0" strike="noStrike" sz="1500" u="none">
                  <a:solidFill>
                    <a:srgbClr val="0A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9BED2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A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-8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Mio. €</c:v>
                </c:pt>
              </c:strCache>
            </c:strRef>
          </c:tx>
          <c:spPr>
            <a:solidFill>
              <a:srgbClr val="125EA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A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5E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Prototypen</c:v>
                  </c:pt>
                  <c:pt idx="1">
                    <c:v>Kapselwerk-Pilot</c:v>
                  </c:pt>
                  <c:pt idx="2">
                    <c:v>Team</c:v>
                  </c:pt>
                  <c:pt idx="3">
                    <c:v>Reserve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12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500" u="none">
                  <a:solidFill>
                    <a:srgbClr val="0A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A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1727200"/>
            <a:ext cx="5384775" cy="254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4 chart-rail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7 table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8 bridge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9 before-after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0 numbered-rows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1 timeline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2 case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koratives hellblaues Licht hinter der Glasfläch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1727200"/>
            <a:ext cx="5384775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Norra: Wasserstoff tanken</a:t>
            </a:r>
            <a:pPr algn="l" indent="0" marL="0">
              <a:buNone/>
            </a:pPr>
            <a:r>
              <a:rPr lang="en-US" sz="44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ohne Wasserstofftankstelle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4470400"/>
            <a:ext cx="53847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Series-A-Pitch · Investorengespräch 2026 · alle Zahlen Beispieldaten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332104" y="1524000"/>
            <a:ext cx="3928516" cy="3810000"/>
          </a:xfrm>
          <a:prstGeom prst="roundRect">
            <a:avLst>
              <a:gd name="adj" fmla="val 8000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38504" y="1828800"/>
            <a:ext cx="31157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4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Reichweite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38504" y="2057400"/>
            <a:ext cx="31157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km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38504" y="2540000"/>
            <a:ext cx="311571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38504" y="2641600"/>
            <a:ext cx="31157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4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Nachladen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38504" y="2870200"/>
            <a:ext cx="31157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Sekunden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738504" y="3352800"/>
            <a:ext cx="311571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38504" y="3454400"/>
            <a:ext cx="31157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4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Kapseln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38504" y="3683000"/>
            <a:ext cx="31157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3 kg Wasserstoff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738504" y="4165600"/>
            <a:ext cx="311571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38504" y="4267200"/>
            <a:ext cx="31157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4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38504" y="4495800"/>
            <a:ext cx="31157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39.900 €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Wasserstoffautos scheitern an fehlenden Tankstellen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8796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Tankstellen in Deutschland 2026, Anzahl</a:t>
            </a:r>
            <a:endParaRPr lang="en-US" sz="1500" dirty="0"/>
          </a:p>
        </p:txBody>
      </p:sp>
      <p:graphicFrame>
        <p:nvGraphicFramePr>
          <p:cNvPr id="4" name="Chart 0" descr="Balken: Tankstellen in Deutschland 2026. Benzin und Diesel 14.000, Schnellladeparks 5.000, Wasserstoff 80 (Beispieldaten)"/>
          <p:cNvGraphicFramePr/>
          <p:nvPr/>
        </p:nvGraphicFramePr>
        <p:xfrm>
          <a:off x="609600" y="2336800"/>
          <a:ext cx="7247433" cy="3352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Dekoratives hellblaues Licht hinter der Glasfläch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33" y="1930400"/>
            <a:ext cx="4334916" cy="2540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060233" y="2336800"/>
            <a:ext cx="3522116" cy="1727200"/>
          </a:xfrm>
          <a:prstGeom prst="roundRect">
            <a:avLst>
              <a:gd name="adj" fmla="val 17647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365033" y="2641600"/>
            <a:ext cx="291251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Wasserstoff fährt, plant jede Fahrt um die Säule.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Norra-Recherche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Norra tankt aus Wechselkapseln statt an der Säule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2438400"/>
            <a:ext cx="44534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Heute: Wasserstoffauto</a:t>
            </a:r>
            <a:endParaRPr lang="en-US" sz="2000" dirty="0"/>
          </a:p>
        </p:txBody>
      </p:sp>
      <p:pic>
        <p:nvPicPr>
          <p:cNvPr id="4" name="Image 0" descr="Dekoratives hellblaues Licht hinter der Glasfläch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375" y="1727200"/>
            <a:ext cx="6502375" cy="375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92775" y="2133600"/>
            <a:ext cx="5689575" cy="2946400"/>
          </a:xfrm>
          <a:prstGeom prst="roundRect">
            <a:avLst>
              <a:gd name="adj" fmla="val 10345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97575" y="2438400"/>
            <a:ext cx="507997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Norra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09600" y="3048000"/>
            <a:ext cx="445344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9600" y="3200400"/>
            <a:ext cx="44534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Tanken an 80 Säulen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09600" y="3657600"/>
            <a:ext cx="445344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9600" y="3810000"/>
            <a:ext cx="44534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Minuten plus Umweg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09600" y="4267200"/>
            <a:ext cx="445344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9600" y="4419600"/>
            <a:ext cx="44534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 ab 70.000 €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197575" y="3048000"/>
            <a:ext cx="5079975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97575" y="3200400"/>
            <a:ext cx="507997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Tauschen in 2.000 Märkten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197575" y="3657600"/>
            <a:ext cx="5079975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97575" y="3810000"/>
            <a:ext cx="507997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Sekunden, kein Umweg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197575" y="4267200"/>
            <a:ext cx="5079975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97575" y="4419600"/>
            <a:ext cx="507997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 ab 39.900 €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Kapseln reichen für 600 km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600" y="2133600"/>
            <a:ext cx="6316104" cy="3556000"/>
          </a:xfrm>
          <a:prstGeom prst="roundRect">
            <a:avLst>
              <a:gd name="adj" fmla="val 8571"/>
            </a:avLst>
          </a:prstGeom>
          <a:solidFill>
            <a:srgbClr val="EAF2F8"/>
          </a:solidFill>
          <a:ln w="12700">
            <a:solidFill>
              <a:srgbClr val="A9BED2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09600" y="3759200"/>
            <a:ext cx="63161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[Produktbild: Norra mit Kapsel einfügen]</a:t>
            </a:r>
            <a:endParaRPr lang="en-US" sz="1500" dirty="0"/>
          </a:p>
        </p:txBody>
      </p:sp>
      <p:pic>
        <p:nvPicPr>
          <p:cNvPr id="5" name="Image 0" descr="Dekoratives hellblaues Licht hinter der Glasfläch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3833" y="1727200"/>
            <a:ext cx="4334916" cy="436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60233" y="2133600"/>
            <a:ext cx="3522116" cy="3556000"/>
          </a:xfrm>
          <a:prstGeom prst="roundRect">
            <a:avLst>
              <a:gd name="adj" fmla="val 8654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365033" y="2438400"/>
            <a:ext cx="291251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km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365033" y="2870200"/>
            <a:ext cx="29125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4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Reichweite je Kapsel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365033" y="3454400"/>
            <a:ext cx="291251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kg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365033" y="3886200"/>
            <a:ext cx="29125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4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Wasserstoff je Kapsel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365033" y="4470400"/>
            <a:ext cx="291251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365033" y="4902200"/>
            <a:ext cx="29125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47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Wechsel beider Kapseln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Norra-Entwicklung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km nachladen dauert 90 Sekunden statt 35 Minuten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8796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Minuten für 500 km Reichweite</a:t>
            </a:r>
            <a:endParaRPr lang="en-US" sz="1500" dirty="0"/>
          </a:p>
        </p:txBody>
      </p:sp>
      <p:graphicFrame>
        <p:nvGraphicFramePr>
          <p:cNvPr id="4" name="Chart 0" descr="Balken: Minuten für 500 km Reichweite. E-Auto am Schnelllader 35, Wasserstoffauto an der Säule 5, Benziner 4, Norra mit Kapselwechsel 1,5 (Beispieldaten)"/>
          <p:cNvGraphicFramePr/>
          <p:nvPr/>
        </p:nvGraphicFramePr>
        <p:xfrm>
          <a:off x="609600" y="2336800"/>
          <a:ext cx="7247433" cy="3352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810000" y="51308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23-mal schneller</a:t>
            </a:r>
            <a:endParaRPr lang="en-US" sz="2000" dirty="0"/>
          </a:p>
        </p:txBody>
      </p:sp>
      <p:pic>
        <p:nvPicPr>
          <p:cNvPr id="6" name="Image 0" descr="Dekoratives hellblaues Licht hinter der Glasfläch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33" y="2133600"/>
            <a:ext cx="4334916" cy="2540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060233" y="2540000"/>
            <a:ext cx="3522116" cy="1727200"/>
          </a:xfrm>
          <a:prstGeom prst="roundRect">
            <a:avLst>
              <a:gd name="adj" fmla="val 17647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365033" y="2844800"/>
            <a:ext cx="291251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Flottenautos stehen nicht mehr am Lader.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Norra-Messreihe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Kapseln kommen über 2.000 Supermärkte, nicht über neue Säulen</a:t>
            </a:r>
            <a:endParaRPr lang="en-US" sz="3400" dirty="0"/>
          </a:p>
        </p:txBody>
      </p:sp>
      <p:pic>
        <p:nvPicPr>
          <p:cNvPr id="3" name="Image 0" descr="Dekoratives hellblaues Licht hinter der Glasfläch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9033" y="1727200"/>
            <a:ext cx="4639716" cy="355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55433" y="2133600"/>
            <a:ext cx="3826916" cy="2743200"/>
          </a:xfrm>
          <a:prstGeom prst="roundRect">
            <a:avLst>
              <a:gd name="adj" fmla="val 11111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09600" y="2336800"/>
            <a:ext cx="321731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9600" y="2540000"/>
            <a:ext cx="321731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09600" y="3149600"/>
            <a:ext cx="32173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Füllen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3556000"/>
            <a:ext cx="321731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Windstrom füllt Kapseln im Werk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34916" y="2336800"/>
            <a:ext cx="321731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34916" y="2540000"/>
            <a:ext cx="321731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334916" y="3149600"/>
            <a:ext cx="32173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Liefern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334916" y="3556000"/>
            <a:ext cx="321731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Lkw bringen volle Kapseln in 2.000 Märkte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060233" y="2540000"/>
            <a:ext cx="321731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060233" y="3149600"/>
            <a:ext cx="32173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Tauschen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060233" y="3556000"/>
            <a:ext cx="321731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Fahrer tauschen in 90 Sekunden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Europas Flotten kaufen 2031 1,5 Mio. emissionsfreie Autos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8796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Neuzulassungen emissionsfreier Flottenautos in Europa, Mio.</a:t>
            </a:r>
            <a:endParaRPr lang="en-US" sz="1500" dirty="0"/>
          </a:p>
        </p:txBody>
      </p:sp>
      <p:graphicFrame>
        <p:nvGraphicFramePr>
          <p:cNvPr id="4" name="Chart 0" descr="Säulen: Neuzulassungen emissionsfreier Flottenautos in Europa, 2027 0,6 Mio. bis 2031 1,5 Mio. (Beispieldaten)"/>
          <p:cNvGraphicFramePr/>
          <p:nvPr/>
        </p:nvGraphicFramePr>
        <p:xfrm>
          <a:off x="609600" y="2336800"/>
          <a:ext cx="7247433" cy="3352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Dekoratives hellblaues Licht hinter der Glasfläch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33" y="1930400"/>
            <a:ext cx="4334916" cy="2540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060233" y="2336800"/>
            <a:ext cx="3522116" cy="1727200"/>
          </a:xfrm>
          <a:prstGeom prst="roundRect">
            <a:avLst>
              <a:gd name="adj" fmla="val 17647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365033" y="2641600"/>
            <a:ext cx="291251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40.000 Norra-Autos wären knapp 3 % davon.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Norra-Marktmodell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Norra verbindet schnelles Tanken mit dichtem Netz</a:t>
            </a:r>
            <a:endParaRPr lang="en-US" sz="3400" dirty="0"/>
          </a:p>
        </p:txBody>
      </p:sp>
      <p:pic>
        <p:nvPicPr>
          <p:cNvPr id="3" name="Image 0" descr="Dekoratives hellblaues Licht hinter der Glasfläch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3911600"/>
            <a:ext cx="11582400" cy="1422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600" y="4216400"/>
            <a:ext cx="10972800" cy="812800"/>
          </a:xfrm>
          <a:prstGeom prst="roundRect">
            <a:avLst>
              <a:gd name="adj" fmla="val 37500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3368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48000"/>
                <a:gridCol w="3048000"/>
                <a:gridCol w="2133600"/>
              </a:tblGrid>
              <a:tr h="508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660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Nachladen für 500 km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660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Netz in Deutschland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660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ab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E-Auto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Minuten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5.000 Ladeparks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35.000 €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Wasserstoffauto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Minuten plus Umweg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Säulen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70.000 €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Norra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Sekunden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2.000 Märkte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39.900 €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0320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A9B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Norra-Recherche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Auto bringt über acht Jahre 50.000 € Umsatz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8796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 je Auto über acht Jahre, €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6000" y="3580384"/>
            <a:ext cx="1219200" cy="1906016"/>
          </a:xfrm>
          <a:prstGeom prst="rect">
            <a:avLst/>
          </a:prstGeom>
          <a:solidFill>
            <a:srgbClr val="7A8A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1200" y="32755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33.500 €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11200" y="5588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(netto)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35200" y="3580384"/>
            <a:ext cx="609600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844800" y="2783840"/>
            <a:ext cx="1219200" cy="796544"/>
          </a:xfrm>
          <a:prstGeom prst="rect">
            <a:avLst/>
          </a:prstGeom>
          <a:solidFill>
            <a:srgbClr val="7A8A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40000" y="2479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14.000 €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540000" y="5588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Kapseln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64000" y="2783840"/>
            <a:ext cx="609600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673600" y="2641600"/>
            <a:ext cx="1219200" cy="142240"/>
          </a:xfrm>
          <a:prstGeom prst="rect">
            <a:avLst/>
          </a:prstGeom>
          <a:solidFill>
            <a:srgbClr val="7A8A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68800" y="2336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2.500 €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68800" y="5588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92800" y="2641600"/>
            <a:ext cx="609600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502400" y="2641600"/>
            <a:ext cx="1219200" cy="2844800"/>
          </a:xfrm>
          <a:prstGeom prst="rect">
            <a:avLst/>
          </a:prstGeom>
          <a:solidFill>
            <a:srgbClr val="125E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97600" y="2336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50.000 €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197600" y="5588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9600" y="5486400"/>
            <a:ext cx="7247433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pic>
        <p:nvPicPr>
          <p:cNvPr id="20" name="Image 0" descr="Dekoratives hellblaues Licht hinter der Glasfläch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3833" y="1930400"/>
            <a:ext cx="4334916" cy="25400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060233" y="2336800"/>
            <a:ext cx="3522116" cy="1727200"/>
          </a:xfrm>
          <a:prstGeom prst="roundRect">
            <a:avLst>
              <a:gd name="adj" fmla="val 17647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365033" y="2641600"/>
            <a:ext cx="291251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Kapseln und Service bringen ein Drittel des Umsatzes.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Norra-Businessplan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Flottenkunden haben in sechs Monaten 450 Autos vorbestellt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8796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Vorbestellte Autos, kumuliert, 2026</a:t>
            </a:r>
            <a:endParaRPr lang="en-US" sz="1500" dirty="0"/>
          </a:p>
        </p:txBody>
      </p:sp>
      <p:graphicFrame>
        <p:nvGraphicFramePr>
          <p:cNvPr id="4" name="Chart 0" descr="Säulen: vorbestellte Autos kumuliert, April 30 bis September 450 (Beispieldaten)"/>
          <p:cNvGraphicFramePr/>
          <p:nvPr/>
        </p:nvGraphicFramePr>
        <p:xfrm>
          <a:off x="609600" y="2336800"/>
          <a:ext cx="7247433" cy="3352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Dekoratives hellblaues Licht hinter der Glasfläch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33" y="1930400"/>
            <a:ext cx="4334916" cy="2540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060233" y="2336800"/>
            <a:ext cx="3522116" cy="1727200"/>
          </a:xfrm>
          <a:prstGeom prst="roundRect">
            <a:avLst>
              <a:gd name="adj" fmla="val 17647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365033" y="2641600"/>
            <a:ext cx="291251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Darunter zwei Taxiflotten und ein Lieferdienst.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Norra-Vertrieb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Serienstart 2029, erst Flotten, dann Privatkunden</a:t>
            </a:r>
            <a:endParaRPr lang="en-US" sz="3400" dirty="0"/>
          </a:p>
        </p:txBody>
      </p:sp>
      <p:pic>
        <p:nvPicPr>
          <p:cNvPr id="3" name="Image 0" descr="Dekoratives hellblaues Licht hinter der Glasfläch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200" y="2336800"/>
            <a:ext cx="2844800" cy="284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12000" y="2641600"/>
            <a:ext cx="2235200" cy="2235200"/>
          </a:xfrm>
          <a:prstGeom prst="roundRect">
            <a:avLst>
              <a:gd name="adj" fmla="val 13636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09600" y="3454400"/>
            <a:ext cx="10972800" cy="0"/>
          </a:xfrm>
          <a:prstGeom prst="line">
            <a:avLst/>
          </a:prstGeom>
          <a:noFill/>
          <a:ln w="19050">
            <a:solidFill>
              <a:srgbClr val="A9BED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3378200"/>
            <a:ext cx="152400" cy="152400"/>
          </a:xfrm>
          <a:prstGeom prst="ellipse">
            <a:avLst/>
          </a:prstGeom>
          <a:solidFill>
            <a:srgbClr val="7A8A9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09600" y="2844800"/>
            <a:ext cx="182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09600" y="3759200"/>
            <a:ext cx="182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44800" y="3378200"/>
            <a:ext cx="152400" cy="152400"/>
          </a:xfrm>
          <a:prstGeom prst="ellipse">
            <a:avLst/>
          </a:prstGeom>
          <a:solidFill>
            <a:srgbClr val="7A8A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844800" y="2844800"/>
            <a:ext cx="182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844800" y="3759200"/>
            <a:ext cx="182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Prototypen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080000" y="3378200"/>
            <a:ext cx="152400" cy="152400"/>
          </a:xfrm>
          <a:prstGeom prst="ellipse">
            <a:avLst/>
          </a:prstGeom>
          <a:solidFill>
            <a:srgbClr val="7A8A9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80000" y="2844800"/>
            <a:ext cx="182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080000" y="3759200"/>
            <a:ext cx="182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Erstes Kapselwerk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315200" y="3378200"/>
            <a:ext cx="152400" cy="152400"/>
          </a:xfrm>
          <a:prstGeom prst="ellipse">
            <a:avLst/>
          </a:prstGeom>
          <a:solidFill>
            <a:srgbClr val="125E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0" y="2844800"/>
            <a:ext cx="182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5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3759200"/>
            <a:ext cx="182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Serienstart für Flotten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550400" y="3378200"/>
            <a:ext cx="152400" cy="152400"/>
          </a:xfrm>
          <a:prstGeom prst="ellipse">
            <a:avLst/>
          </a:prstGeom>
          <a:solidFill>
            <a:srgbClr val="7A8A9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550400" y="2844800"/>
            <a:ext cx="1828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9550400" y="3759200"/>
            <a:ext cx="182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Privatkunden, Break-even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Norra-Plan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Gründer bringen Brennstoffzelle, Fahrzeugbau und Handel zusammen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600" y="2235200"/>
            <a:ext cx="1422400" cy="1422400"/>
          </a:xfrm>
          <a:prstGeom prst="ellipse">
            <a:avLst/>
          </a:prstGeom>
          <a:solidFill>
            <a:srgbClr val="EAF2F8"/>
          </a:solidFill>
          <a:ln w="12700">
            <a:solidFill>
              <a:srgbClr val="A9BED2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09600" y="2819400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[Foto]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3962400"/>
            <a:ext cx="35221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343400"/>
            <a:ext cx="35221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4673600"/>
            <a:ext cx="35221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Jahre Einzelhandel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34916" y="2235200"/>
            <a:ext cx="1422400" cy="1422400"/>
          </a:xfrm>
          <a:prstGeom prst="ellipse">
            <a:avLst/>
          </a:prstGeom>
          <a:solidFill>
            <a:srgbClr val="EAF2F8"/>
          </a:solidFill>
          <a:ln w="12700">
            <a:solidFill>
              <a:srgbClr val="A9BED2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334916" y="2819400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[Foto]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34916" y="3962400"/>
            <a:ext cx="35221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334916" y="4343400"/>
            <a:ext cx="35221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34916" y="4673600"/>
            <a:ext cx="35221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Jahre Brennstoffzelle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60233" y="2235200"/>
            <a:ext cx="1422400" cy="1422400"/>
          </a:xfrm>
          <a:prstGeom prst="ellipse">
            <a:avLst/>
          </a:prstGeom>
          <a:solidFill>
            <a:srgbClr val="EAF2F8"/>
          </a:solidFill>
          <a:ln w="12700">
            <a:solidFill>
              <a:srgbClr val="A9BED2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060233" y="2819400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[Foto]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60233" y="3962400"/>
            <a:ext cx="35221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060233" y="4343400"/>
            <a:ext cx="35221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060233" y="4673600"/>
            <a:ext cx="35221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Jahre Fahrzeugbau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Namen, Fotos und Werdegänge: Platzhalter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Norra erreicht 2031 den Break-even bei 40.000 Autos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8796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EBIT, Mio. €</a:t>
            </a:r>
            <a:endParaRPr lang="en-US" sz="1500" dirty="0"/>
          </a:p>
        </p:txBody>
      </p:sp>
      <p:graphicFrame>
        <p:nvGraphicFramePr>
          <p:cNvPr id="4" name="Chart 0" descr="Säulen: EBIT in Mio. €, 2027 minus 38, 2028 minus 55, 2029 minus 40, 2030 minus 12, 2031 plus 6, 2032 plus 45 (Beispieldaten)"/>
          <p:cNvGraphicFramePr/>
          <p:nvPr/>
        </p:nvGraphicFramePr>
        <p:xfrm>
          <a:off x="609600" y="2336800"/>
          <a:ext cx="7247433" cy="3352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Dekoratives hellblaues Licht hinter der Glasfläch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33" y="1930400"/>
            <a:ext cx="4334916" cy="2540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060233" y="2336800"/>
            <a:ext cx="3522116" cy="1727200"/>
          </a:xfrm>
          <a:prstGeom prst="roundRect">
            <a:avLst>
              <a:gd name="adj" fmla="val 17647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365033" y="2641600"/>
            <a:ext cx="291251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 2031: 1,4 Mrd. € bei 40.000 Autos.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Norra-Businessplan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711200"/>
            <a:ext cx="10972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Mio. € bringen 200 Prototypen auf die Straße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8796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Mittelverwendung, Mio. €</a:t>
            </a:r>
            <a:endParaRPr lang="en-US" sz="1500" dirty="0"/>
          </a:p>
        </p:txBody>
      </p:sp>
      <p:graphicFrame>
        <p:nvGraphicFramePr>
          <p:cNvPr id="4" name="Chart 0" descr="Balken: Mittelverwendung der 40 Mio. €. Prototypen 18, Kapselwerk-Pilot 12, Team 6, Reserve 4 (Beispieldaten)"/>
          <p:cNvGraphicFramePr/>
          <p:nvPr/>
        </p:nvGraphicFramePr>
        <p:xfrm>
          <a:off x="609600" y="2336800"/>
          <a:ext cx="7247433" cy="3352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Dekoratives hellblaues Licht hinter der Glasfläch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33" y="1930400"/>
            <a:ext cx="4334916" cy="2946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060233" y="2336800"/>
            <a:ext cx="3522116" cy="2133600"/>
          </a:xfrm>
          <a:prstGeom prst="roundRect">
            <a:avLst>
              <a:gd name="adj" fmla="val 14286"/>
            </a:avLst>
          </a:prstGeom>
          <a:solidFill>
            <a:srgbClr val="FFFFFF">
              <a:alpha val="70000"/>
            </a:srgbClr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04800" dist="76200" dir="5400000">
              <a:srgbClr val="0A2A4A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365033" y="2641600"/>
            <a:ext cx="291251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Mio. €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8365033" y="3454400"/>
            <a:ext cx="291251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A, 24 Monate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Norra-Businessplan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Norra Series-A-Pitch (fiktiv, Beispieldaten)</dc:title>
  <dc:subject>PptxGenJS Presentation</dc:subject>
  <dc:creator>PptxGenJS</dc:creator>
  <cp:lastModifiedBy>PptxGenJS</cp:lastModifiedBy>
  <cp:revision>1</cp:revision>
  <dcterms:created xsi:type="dcterms:W3CDTF">2026-09-25T19:53:34Z</dcterms:created>
  <dcterms:modified xsi:type="dcterms:W3CDTF">2026-09-25T19:53:34Z</dcterms:modified>
</cp:coreProperties>
</file>