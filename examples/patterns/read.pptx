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Werk Nord</c:v>
                </c:pt>
              </c:strCache>
            </c:strRef>
          </c:tx>
          <c:spPr>
            <a:solidFill>
              <a:srgbClr val="0F5E9C"/>
            </a:solidFill>
            <a:ln w="25400" cap="flat">
              <a:solidFill>
                <a:srgbClr val="0F5E9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5E9C"/>
              </a:solidFill>
              <a:ln w="9525" cap="flat">
                <a:solidFill>
                  <a:srgbClr val="0F5E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1.42</c:v>
                </c:pt>
                <c:pt idx="1">
                  <c:v>1.51</c:v>
                </c:pt>
                <c:pt idx="2">
                  <c:v>1.58</c:v>
                </c:pt>
                <c:pt idx="3">
                  <c:v>1.66</c:v>
                </c:pt>
                <c:pt idx="4">
                  <c:v>1.71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Werk Süd</c:v>
                </c:pt>
              </c:strCache>
            </c:strRef>
          </c:tx>
          <c:spPr>
            <a:solidFill>
              <a:srgbClr val="949494"/>
            </a:solidFill>
            <a:ln w="25400" cap="flat">
              <a:solidFill>
                <a:srgbClr val="9494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49494"/>
              </a:solidFill>
              <a:ln w="9525" cap="flat">
                <a:solidFill>
                  <a:srgbClr val="9494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1.21</c:v>
                </c:pt>
                <c:pt idx="1">
                  <c:v>1.24</c:v>
                </c:pt>
                <c:pt idx="2">
                  <c:v>1.27</c:v>
                </c:pt>
                <c:pt idx="3">
                  <c:v>1.29</c:v>
                </c:pt>
                <c:pt idx="4">
                  <c:v>1.31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"/>
          <c:min val="1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Ausschuss</c:v>
                </c:pt>
              </c:strCache>
            </c:strRef>
          </c:tx>
          <c:spPr>
            <a:solidFill>
              <a:srgbClr val="94949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F5E9C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2.4</c:v>
                </c:pt>
                <c:pt idx="1">
                  <c:v>2.9</c:v>
                </c:pt>
                <c:pt idx="2">
                  <c:v>3.1</c:v>
                </c:pt>
                <c:pt idx="3">
                  <c:v>3.3</c:v>
                </c:pt>
                <c:pt idx="4">
                  <c:v>3.8</c:v>
                </c:pt>
                <c:pt idx="5">
                  <c:v>4</c:v>
                </c:pt>
                <c:pt idx="6">
                  <c:v>4.2</c:v>
                </c:pt>
                <c:pt idx="7">
                  <c:v>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Energie je Stück</c:v>
                </c:pt>
              </c:strCache>
            </c:strRef>
          </c:tx>
          <c:spPr>
            <a:solidFill>
              <a:srgbClr val="858585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585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585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5E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5E9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Linie 1</c:v>
                  </c:pt>
                  <c:pt idx="1">
                    <c:v>Linie 2</c:v>
                  </c:pt>
                  <c:pt idx="2">
                    <c:v>Linie 3</c:v>
                  </c:pt>
                  <c:pt idx="3">
                    <c:v>Linie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1.52</c:v>
                </c:pt>
                <c:pt idx="1">
                  <c:v>1.61</c:v>
                </c:pt>
                <c:pt idx="2">
                  <c:v>2.04</c:v>
                </c:pt>
                <c:pt idx="3">
                  <c:v>1.95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Ausschuss</c:v>
                </c:pt>
              </c:strCache>
            </c:strRef>
          </c:tx>
          <c:spPr>
            <a:solidFill>
              <a:srgbClr val="858585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585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585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5E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5E9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Linie 1</c:v>
                  </c:pt>
                  <c:pt idx="1">
                    <c:v>Linie 2</c:v>
                  </c:pt>
                  <c:pt idx="2">
                    <c:v>Linie 3</c:v>
                  </c:pt>
                  <c:pt idx="3">
                    <c:v>Linie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</c:v>
                </c:pt>
                <c:pt idx="1">
                  <c:v>3.4</c:v>
                </c:pt>
                <c:pt idx="2">
                  <c:v>6.9</c:v>
                </c:pt>
                <c:pt idx="3">
                  <c:v>6.2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2 divider-a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3 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4 chart-rai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5 chart-focu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6 two-exhibi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7 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8 brid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9 before-af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0 numbered-row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1 tim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2 c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3 key-number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921000"/>
            <a:ext cx="7247433" cy="1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921000"/>
            <a:ext cx="724743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 Nord: Wege zu 12 % niedrigeren Stückkosten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4038600"/>
            <a:ext cx="72474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Entscheidungsvorlage für die Geschäftsführung · Oktober 2026 · Beispieldaten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" y="4445000"/>
            <a:ext cx="12192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Inhalt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2286000"/>
            <a:ext cx="63161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949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Ausgangslage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2844800"/>
            <a:ext cx="63161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5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Kostentreiber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3403600"/>
            <a:ext cx="63161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949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Hebel und Wirkung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3962400"/>
            <a:ext cx="63161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949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Umsetzung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Hebel senken die Stückkosten bis 2028 um 12 %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981200"/>
            <a:ext cx="9110091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 und Ausschuss verursachen zwei Drittel der Mehrkosten gegenüber Werk Süd.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2540000"/>
            <a:ext cx="9110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 je Stück liegt 31 % über Werk Süd, Ausschuss bei 4,8 % statt 2,1 %.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3149600"/>
            <a:ext cx="9110091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Wärmerückgewinnung und Prozessregelung bringen 9 Prozentpunkte bei 6,2 Mio. € Investition.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3708400"/>
            <a:ext cx="9110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Amortisation in 2,4 Jahren, beide Maßnahmen sind in Werk Süd erprobt.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4318000"/>
            <a:ext cx="9110091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Pilot an Linie 3 ab Q1 2027 sichert die Entscheidung über den Rollout ab.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4876800"/>
            <a:ext cx="9110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Freigabe heute: 1,1 Mio. € für den Pilot.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59690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Kostenrechnung Werk Nord und Werk Süd,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 je Stück liegt in Werk Nord 31 % über Werk Süd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574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Energiekosten je Stück in €, 2022–2026</a:t>
            </a:r>
            <a:endParaRPr lang="en-US" sz="1200" dirty="0"/>
          </a:p>
        </p:txBody>
      </p:sp>
      <p:graphicFrame>
        <p:nvGraphicFramePr>
          <p:cNvPr id="4" name="Chart 0" descr="Linien 2022 bis 2026: Werk Nord steigt von 1,42 auf 1,71 €, Werk Süd von 1,21 auf 1,31 €"/>
          <p:cNvGraphicFramePr/>
          <p:nvPr/>
        </p:nvGraphicFramePr>
        <p:xfrm>
          <a:off x="609600" y="1981200"/>
          <a:ext cx="6316104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179704" y="2362200"/>
            <a:ext cx="88052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5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 Nord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179704" y="3810000"/>
            <a:ext cx="88052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 Süd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060233" y="1981200"/>
            <a:ext cx="0" cy="34290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63433" y="1981200"/>
            <a:ext cx="33189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das bedeutet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63433" y="2336800"/>
            <a:ext cx="331891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Lücke wächst jedes Jahr, weil Werk Nord Abwärme nicht nutzt.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0,40 € je Stück entsprechen bei 1,35 Mio. Stück 0,54 Mio. € im Jahr.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 Süd senkte den Wert 2021 mit Wärmerückgewinnung.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9600" y="59690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Energiecontrolling,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Ausschuss stieg 2026 auf 4,8 % und liegt damit am höchsten seit 2019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574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Ausschussquote Werk Nord in %, 2019–2026</a:t>
            </a:r>
            <a:endParaRPr lang="en-US" sz="1200" dirty="0"/>
          </a:p>
        </p:txBody>
      </p:sp>
      <p:graphicFrame>
        <p:nvGraphicFramePr>
          <p:cNvPr id="4" name="Chart 0" descr="Säulen 2019 bis 2026, Ausschuss steigt von 2,4 auf 4,8 Prozent, 2026 hervorgehoben"/>
          <p:cNvGraphicFramePr/>
          <p:nvPr/>
        </p:nvGraphicFramePr>
        <p:xfrm>
          <a:off x="609600" y="1981200"/>
          <a:ext cx="10972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9600" y="59690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Qualitätsberichte, 2019–2026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Energie und mehr Ausschuss treffen dieselben zwei Linien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09600" y="1905000"/>
            <a:ext cx="10972800" cy="3606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2800" y="2057400"/>
            <a:ext cx="5079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 je Stück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311400"/>
            <a:ext cx="507997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€, 2026</a:t>
            </a:r>
            <a:endParaRPr lang="en-US" sz="1200" dirty="0"/>
          </a:p>
        </p:txBody>
      </p:sp>
      <p:graphicFrame>
        <p:nvGraphicFramePr>
          <p:cNvPr id="6" name="Chart 0" descr="Energie je Stück je Linie 2026, Linien 3 und 4 hervorgehoben"/>
          <p:cNvGraphicFramePr/>
          <p:nvPr/>
        </p:nvGraphicFramePr>
        <p:xfrm>
          <a:off x="812800" y="2590800"/>
          <a:ext cx="5079975" cy="279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299175" y="2057400"/>
            <a:ext cx="5079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Ausschuss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99175" y="2311400"/>
            <a:ext cx="507997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%, 2026</a:t>
            </a:r>
            <a:endParaRPr lang="en-US" sz="1200" dirty="0"/>
          </a:p>
        </p:txBody>
      </p:sp>
      <p:graphicFrame>
        <p:nvGraphicFramePr>
          <p:cNvPr id="9" name="Chart 1" descr="Ausschuss je Linie 2026, Linien 3 und 4 hervorgehoben"/>
          <p:cNvGraphicFramePr/>
          <p:nvPr/>
        </p:nvGraphicFramePr>
        <p:xfrm>
          <a:off x="6299175" y="2590800"/>
          <a:ext cx="5079975" cy="279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09600" y="59690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Energie- und Qualitätscontrolling,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 3 hat die höchsten Kosten je Stück bei geringster Auslastung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574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Kennzahlen je Linie, 2026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98120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83080"/>
                <a:gridCol w="1783080"/>
                <a:gridCol w="1783080"/>
                <a:gridCol w="1783080"/>
                <a:gridCol w="18288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Linie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Stück (Tsd.)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Auslastung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Energie €/Stück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Ausschuss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 €/Stück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Linie 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Linie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Linie 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9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9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9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9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9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9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Linie 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9600" y="45720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 3 kostet 2,50 € je Stück mehr als Linie 1, zusammen 0,6 Mio. € im Jahr.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09600" y="59690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Kostenrechnung je Linie,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 und Ausschuss erklären 1,25 € der 1,90 € Mehrkosten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574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Stückkosten Werk Süd bis Werk Nord in €,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4292600"/>
            <a:ext cx="8128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7400" y="4064000"/>
            <a:ext cx="1066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1200" y="5283200"/>
            <a:ext cx="1219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 Süd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82800" y="3886200"/>
            <a:ext cx="812800" cy="406400"/>
          </a:xfrm>
          <a:prstGeom prst="rect">
            <a:avLst/>
          </a:prstGeom>
          <a:solidFill>
            <a:srgbClr val="94949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55800" y="3657600"/>
            <a:ext cx="1066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+0,40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79600" y="5283200"/>
            <a:ext cx="1219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51200" y="3022600"/>
            <a:ext cx="812800" cy="863600"/>
          </a:xfrm>
          <a:prstGeom prst="rect">
            <a:avLst/>
          </a:prstGeom>
          <a:solidFill>
            <a:srgbClr val="9494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24200" y="2794000"/>
            <a:ext cx="1066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+0,85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48000" y="5283200"/>
            <a:ext cx="1219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Ausschuss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19600" y="2209800"/>
            <a:ext cx="812800" cy="812800"/>
          </a:xfrm>
          <a:prstGeom prst="rect">
            <a:avLst/>
          </a:prstGeom>
          <a:solidFill>
            <a:srgbClr val="94949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92600" y="1981200"/>
            <a:ext cx="1066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+0,80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216400" y="5283200"/>
            <a:ext cx="1219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8000" y="2209800"/>
            <a:ext cx="812800" cy="15240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61000" y="1981200"/>
            <a:ext cx="1066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−0,15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84800" y="5283200"/>
            <a:ext cx="1219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Einkauf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56400" y="2362200"/>
            <a:ext cx="812800" cy="284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2133600"/>
            <a:ext cx="1066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12,30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3200" y="5283200"/>
            <a:ext cx="1219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 Nord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600" y="5207000"/>
            <a:ext cx="72644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60233" y="2133600"/>
            <a:ext cx="3522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060233" y="2387600"/>
            <a:ext cx="3522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Wärmerückgewinnung, ältere Öfen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060233" y="2895600"/>
            <a:ext cx="3522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Ausschuss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060233" y="3149600"/>
            <a:ext cx="3522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Linien 3 und 4, fehlende Prozessregelung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60233" y="3657600"/>
            <a:ext cx="3522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060233" y="3911600"/>
            <a:ext cx="3522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 Nord, Schichtmodell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060233" y="4419600"/>
            <a:ext cx="3522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Einkauf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060233" y="4673600"/>
            <a:ext cx="3522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Rahmenvertrag Stahl 2025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907833" y="2032000"/>
            <a:ext cx="0" cy="33020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9600" y="59690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Kostenvergleich der Werke,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Pilot ändert an Linie 3 Steuerung, Wärme und Wartung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2472258" y="1981200"/>
            <a:ext cx="44534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128904" y="1981200"/>
            <a:ext cx="44534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5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dem Pilot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600" y="2260600"/>
            <a:ext cx="109728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9600" y="2413000"/>
            <a:ext cx="165945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Steuerung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72258" y="2413000"/>
            <a:ext cx="41994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Ofentemperatur von Hand, Stichproben alle 4 Stunden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49504" y="2463800"/>
            <a:ext cx="152400" cy="203200"/>
          </a:xfrm>
          <a:prstGeom prst="chevron">
            <a:avLst/>
          </a:prstGeom>
          <a:solidFill>
            <a:srgbClr val="94949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28904" y="2413000"/>
            <a:ext cx="44534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Regelung je Charge, Messung in Echtzeit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" y="33020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9600" y="3403600"/>
            <a:ext cx="165945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Wärme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72258" y="3403600"/>
            <a:ext cx="41994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Abwärme geht über das Dach verloren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49504" y="3454400"/>
            <a:ext cx="152400" cy="203200"/>
          </a:xfrm>
          <a:prstGeom prst="chevron">
            <a:avLst/>
          </a:prstGeom>
          <a:solidFill>
            <a:srgbClr val="94949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28904" y="3403600"/>
            <a:ext cx="44534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Rückgewinnung heizt Halle und Vorwärmung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600" y="42926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9600" y="4394200"/>
            <a:ext cx="165945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Wartung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472258" y="4394200"/>
            <a:ext cx="41994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Ausfall, im Mittel 11 Stunden Stillstand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49504" y="4445000"/>
            <a:ext cx="152400" cy="203200"/>
          </a:xfrm>
          <a:prstGeom prst="chevron">
            <a:avLst/>
          </a:prstGeom>
          <a:solidFill>
            <a:srgbClr val="94949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28904" y="4394200"/>
            <a:ext cx="44534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Zustand, Stillstand unter 3 Stunden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600" y="52832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9600" y="59690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Konzept Pilot Linie 3,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Treiber erklären die Mehrkosten, zwei davon sind lösbar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540929" y="1981200"/>
            <a:ext cx="1659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Treiber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403587" y="1981200"/>
            <a:ext cx="44534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Befund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060233" y="1981200"/>
            <a:ext cx="3522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600" y="2235200"/>
            <a:ext cx="109728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9600" y="23622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5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40929" y="2387600"/>
            <a:ext cx="165945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03587" y="2387600"/>
            <a:ext cx="445344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Abwärme ungenutzt, Öfen von 2004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60233" y="2387600"/>
            <a:ext cx="352211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5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Wärmerückgewinnung, 4,1 Mio. 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600" y="29972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9600" y="30988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5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40929" y="3124200"/>
            <a:ext cx="165945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Ausschuss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03587" y="3124200"/>
            <a:ext cx="445344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Linien 3 und 4 ohne Prozessregelung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60233" y="3124200"/>
            <a:ext cx="352211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5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Regelung, 2,1 Mio. 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600" y="37338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9600" y="38354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49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40929" y="3860800"/>
            <a:ext cx="165945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03587" y="3860800"/>
            <a:ext cx="445344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 Nord liegt 6 % über Süd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060233" y="3860800"/>
            <a:ext cx="352211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beeinflussbar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9600" y="44704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9600" y="45720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49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40929" y="4597400"/>
            <a:ext cx="165945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Einkauf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403587" y="4597400"/>
            <a:ext cx="445344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Rahmenvertrag bereits günstiger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060233" y="4597400"/>
            <a:ext cx="352211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beibehalten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9600" y="5207000"/>
            <a:ext cx="109728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9600" y="59690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Kostenanalyse Werk Nord,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dem Pilot entscheidet die Geschäftsführung im Juli 2027 über den Rollout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09600" y="2540000"/>
            <a:ext cx="109728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2438400"/>
            <a:ext cx="203200" cy="203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9600" y="27940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3073400"/>
            <a:ext cx="241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startet an Linie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52800" y="2438400"/>
            <a:ext cx="203200" cy="203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52800" y="27940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52800" y="3073400"/>
            <a:ext cx="241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Messung von Energie und Ausschuss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2438400"/>
            <a:ext cx="203200" cy="203200"/>
          </a:xfrm>
          <a:prstGeom prst="ellipse">
            <a:avLst/>
          </a:prstGeom>
          <a:solidFill>
            <a:srgbClr val="0F5E9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96000" y="27940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5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 2027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96000" y="3073400"/>
            <a:ext cx="241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 über den Rollout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9200" y="2438400"/>
            <a:ext cx="203200" cy="203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39200" y="27940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839200" y="3073400"/>
            <a:ext cx="241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Linien 1, 2 und 4 umgerüstet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600" y="4318000"/>
            <a:ext cx="10972800" cy="558800"/>
          </a:xfrm>
          <a:prstGeom prst="rect">
            <a:avLst/>
          </a:prstGeom>
          <a:solidFill>
            <a:srgbClr val="0F5E9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2800" y="44704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zu entscheiden: Freigabe von 1,1 Mio. € für den Pilot an Linie 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09600" y="59690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Projektplan,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 Süd senkte den Energiebedarf mit derselben Technik um 18 %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981200"/>
            <a:ext cx="44534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Werk Süd 2021 umgesetzt hat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2311400"/>
            <a:ext cx="4453446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Wärmetauscher an allen Öfen</a:t>
            </a:r>
            <a:endParaRPr lang="en-US" sz="1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Abwärme heizt Halle und Vorwärmung</a:t>
            </a:r>
            <a:endParaRPr lang="en-US" sz="1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Investition 3,8 Mio. €, Amortisation 2,6 Jahre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197575" y="1981200"/>
            <a:ext cx="5384775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„Die Rückgewinnung lief nach sechs Wochen stabil, der Aufwand lag bei der Planung, nicht im Betrieb.“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197575" y="2921000"/>
            <a:ext cx="5384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Werkleiter Süd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97575" y="3429000"/>
            <a:ext cx="538477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„Seitdem messen wir Energie je Charge, das war der eigentliche Hebel.“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97575" y="4114800"/>
            <a:ext cx="5384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Leiterin Instandhaltung Süd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45175" y="1981200"/>
            <a:ext cx="0" cy="24130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9600" y="59690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Interviews Werk Süd, September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Drittel der Mehrkosten liegen in Energie und Ausschuss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9812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Mehrkosten Werk Nord gegenüber Süd, 1,90 € je Stück, aufgeteilt nach Ursache: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" y="2540000"/>
            <a:ext cx="331891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600" y="2692400"/>
            <a:ext cx="331891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5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3556000"/>
            <a:ext cx="331891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 und Ausschuss, durch Technik lösbar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34916" y="2540000"/>
            <a:ext cx="331891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34916" y="2692400"/>
            <a:ext cx="331891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334916" y="3556000"/>
            <a:ext cx="331891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Personal, durch den Tarif bestimmt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60233" y="2540000"/>
            <a:ext cx="331891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60233" y="2692400"/>
            <a:ext cx="331891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−8 %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060233" y="3556000"/>
            <a:ext cx="331891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Einkauf, schon günstiger als Süd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09600" y="59690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Kostenvergleich der Werke,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2026-09-25T18:45:34Z</dcterms:created>
  <dcterms:modified xsi:type="dcterms:W3CDTF">2026-09-25T18:45:34Z</dcterms:modified>
</cp:coreProperties>
</file>