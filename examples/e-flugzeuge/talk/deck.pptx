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Begrüßung. Hinweis: Alle Zahlen dieser Keynote sind erfundene Beispieldaten.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 Beispielnetz sind 34 % aller Flüge kürzer als 300 km. Das sind vor allem Regionalverbindungen zwischen Mittelstädten und Drehkreuzen. Das Raster zeigt 100 Flüge, 34 sind gefüllt. Erfundene Zahl.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 und Steigflug verbrauchen den größten Teil der Energie. Auf kurzen Strecken verteilt sich dieser Anteil auf wenige Kilometer: im Beispiel 38 % mehr Kerosin je Sitzkilometer als auf mittlerer Strecke. Das Bild zeigt den Steigflug hervorgehoben. Erfundene Zahl.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Beispielrechnung: 14,2 ct je Sitzkilometer beim Turboprop, 11,1 ct beim E-Flugzeug. Energie und Wartung sinken zusammen um 3,9 ct, das Kapital steigt um 0,8 ct. Erfundene Zahlen.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Der Startlärm liegt beim E-Flugzeug bei 67 dB, beim Turboprop bei 82 dB. Die weißen Ringe zeigen die Reichweite des Lärms beim E-Flugzeug, die gepunkteten Ringe den zusätzlichen Bereich beim Turboprop. Erfundene Zahlen.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Reichweite von 320 km enthält 45 Minuten Reserve. Jenseits davon bleibt der Turboprop das richtige Werkzeug. Erfundene Zahl.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Streckenkarte: 30 Strecken im Beispielnetz, 14 davon (weiß) liegen innerhalb von 320 km. Das sind 47 % der Strecken und 38 % der Passagiere. Erfundene Zahlen.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Vorschlag: vier Flugzeuge, zwei Flughäfen mit Schnelllader, drei Strecken. Budget im Beispiel 49,2 Mio. Euro. Erfundene Zahlen. Danach Fragen.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4C2F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9600" y="2032000"/>
            <a:ext cx="6096000" cy="203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6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4C2F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9600" y="609600"/>
            <a:ext cx="6096000" cy="1320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units">
    <p:bg>
      <p:bgPr>
        <a:solidFill>
          <a:srgbClr val="4C2FB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9600" y="609600"/>
            <a:ext cx="6096000" cy="1320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llustration: Elektroflugzeug mit vier Propellern in der Draufsicht über Reichweitenring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09600" y="2032000"/>
            <a:ext cx="6096000" cy="2032000"/>
          </a:xfrm>
          <a:prstGeom prst="rect">
            <a:avLst/>
          </a:prstGeom>
          <a:solidFill>
            <a:srgbClr val="4C2FBF"/>
          </a:solidFill>
          <a:ln/>
        </p:spPr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09600" y="2032000"/>
            <a:ext cx="6096000" cy="20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Fliegen ohne Kerosin</a:t>
            </a:r>
            <a:endParaRPr lang="en-US" sz="6400" dirty="0"/>
          </a:p>
        </p:txBody>
      </p:sp>
      <p:sp>
        <p:nvSpPr>
          <p:cNvPr id="5" name="Text 2"/>
          <p:cNvSpPr txBox="1"/>
          <p:nvPr/>
        </p:nvSpPr>
        <p:spPr>
          <a:xfrm>
            <a:off x="609600" y="4267200"/>
            <a:ext cx="6096000" cy="508000"/>
          </a:xfrm>
          <a:prstGeom prst="rect">
            <a:avLst/>
          </a:prstGeom>
          <a:solidFill>
            <a:srgbClr val="4C2FBF"/>
          </a:solidFill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E4DE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Keynote, Beispieldaten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unktraster aus 100 Quadraten, 34 davon weiß gefül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09600" y="609600"/>
            <a:ext cx="6096000" cy="1320800"/>
          </a:xfrm>
          <a:prstGeom prst="rect">
            <a:avLst/>
          </a:prstGeom>
          <a:solidFill>
            <a:srgbClr val="4C2FBF"/>
          </a:solidFill>
          <a:ln/>
        </p:spPr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09600" y="609600"/>
            <a:ext cx="6096000" cy="132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Jeder dritte Flug ist kürzer als 300 km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609600" y="2946400"/>
            <a:ext cx="4470400" cy="1422400"/>
          </a:xfrm>
          <a:prstGeom prst="rect">
            <a:avLst/>
          </a:prstGeom>
          <a:solidFill>
            <a:srgbClr val="4C2FBF"/>
          </a:solidFill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34 %</a:t>
            </a:r>
            <a:endParaRPr lang="en-US" sz="9600" dirty="0"/>
          </a:p>
        </p:txBody>
      </p:sp>
      <p:sp>
        <p:nvSpPr>
          <p:cNvPr id="6" name="Text 3"/>
          <p:cNvSpPr txBox="1"/>
          <p:nvPr/>
        </p:nvSpPr>
        <p:spPr>
          <a:xfrm>
            <a:off x="609600" y="4572000"/>
            <a:ext cx="5283200" cy="508000"/>
          </a:xfrm>
          <a:prstGeom prst="rect">
            <a:avLst/>
          </a:prstGeom>
          <a:solidFill>
            <a:srgbClr val="4C2FBF"/>
          </a:solidFill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E4DE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aller Flüge unter 300 km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609600" y="5791200"/>
            <a:ext cx="2743200" cy="203200"/>
          </a:xfrm>
          <a:prstGeom prst="rect">
            <a:avLst/>
          </a:prstGeom>
          <a:solidFill>
            <a:srgbClr val="4C2FB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09600" y="5791200"/>
            <a:ext cx="274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4DE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Quelle: Beispieldaten (erfunden)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lugprofil eines kurzen Flugs: steiler Steigflug in Weiß, Reiseflug und Sinkflug gepunkt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09600" y="609600"/>
            <a:ext cx="6096000" cy="1320800"/>
          </a:xfrm>
          <a:prstGeom prst="rect">
            <a:avLst/>
          </a:prstGeom>
          <a:solidFill>
            <a:srgbClr val="4C2FBF"/>
          </a:solidFill>
          <a:ln/>
        </p:spPr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09600" y="609600"/>
            <a:ext cx="6096000" cy="132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Kurze Flüge fressen das meiste Kerosin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609600" y="2946400"/>
            <a:ext cx="4470400" cy="1422400"/>
          </a:xfrm>
          <a:prstGeom prst="rect">
            <a:avLst/>
          </a:prstGeom>
          <a:solidFill>
            <a:srgbClr val="4C2FBF"/>
          </a:solidFill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+38 %</a:t>
            </a:r>
            <a:endParaRPr lang="en-US" sz="9600" dirty="0"/>
          </a:p>
        </p:txBody>
      </p:sp>
      <p:sp>
        <p:nvSpPr>
          <p:cNvPr id="6" name="Text 3"/>
          <p:cNvSpPr txBox="1"/>
          <p:nvPr/>
        </p:nvSpPr>
        <p:spPr>
          <a:xfrm>
            <a:off x="609600" y="4572000"/>
            <a:ext cx="5283200" cy="508000"/>
          </a:xfrm>
          <a:prstGeom prst="rect">
            <a:avLst/>
          </a:prstGeom>
          <a:solidFill>
            <a:srgbClr val="4C2FBF"/>
          </a:solidFill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E4DE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Kerosin je Sitzkilometer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609600" y="5791200"/>
            <a:ext cx="2743200" cy="203200"/>
          </a:xfrm>
          <a:prstGeom prst="rect">
            <a:avLst/>
          </a:prstGeom>
          <a:solidFill>
            <a:srgbClr val="4C2FB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09600" y="5791200"/>
            <a:ext cx="274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4DE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Quelle: Beispieldaten (erfunden)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Zwei Säulen: Turboprop hoch, E-Flugzeug um 22 Prozent niedrig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09600" y="609600"/>
            <a:ext cx="6096000" cy="1320800"/>
          </a:xfrm>
          <a:prstGeom prst="rect">
            <a:avLst/>
          </a:prstGeom>
          <a:solidFill>
            <a:srgbClr val="4C2FBF"/>
          </a:solidFill>
          <a:ln/>
        </p:spPr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09600" y="609600"/>
            <a:ext cx="6096000" cy="132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Elektroantriebe sparen dort am meisten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609600" y="2946400"/>
            <a:ext cx="4470400" cy="1422400"/>
          </a:xfrm>
          <a:prstGeom prst="rect">
            <a:avLst/>
          </a:prstGeom>
          <a:solidFill>
            <a:srgbClr val="4C2FBF"/>
          </a:solidFill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−22 %</a:t>
            </a:r>
            <a:endParaRPr lang="en-US" sz="9600" dirty="0"/>
          </a:p>
        </p:txBody>
      </p:sp>
      <p:sp>
        <p:nvSpPr>
          <p:cNvPr id="6" name="Text 3"/>
          <p:cNvSpPr txBox="1"/>
          <p:nvPr/>
        </p:nvSpPr>
        <p:spPr>
          <a:xfrm>
            <a:off x="609600" y="4572000"/>
            <a:ext cx="5283200" cy="508000"/>
          </a:xfrm>
          <a:prstGeom prst="rect">
            <a:avLst/>
          </a:prstGeom>
          <a:solidFill>
            <a:srgbClr val="4C2FBF"/>
          </a:solidFill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E4DE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Kosten je Sitzkilometer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609600" y="5791200"/>
            <a:ext cx="2743200" cy="203200"/>
          </a:xfrm>
          <a:prstGeom prst="rect">
            <a:avLst/>
          </a:prstGeom>
          <a:solidFill>
            <a:srgbClr val="4C2FB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09600" y="5791200"/>
            <a:ext cx="274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4DE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Quelle: Beispieldaten (erfunden)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Konzentrische Schallwellen um ein Flugzeug: weiß fünf Ringe für 67 Dezibel, gepunktet zwei weitere für 82 Dezib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09600" y="609600"/>
            <a:ext cx="6096000" cy="1320800"/>
          </a:xfrm>
          <a:prstGeom prst="rect">
            <a:avLst/>
          </a:prstGeom>
          <a:solidFill>
            <a:srgbClr val="4C2FBF"/>
          </a:solidFill>
          <a:ln/>
        </p:spPr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09600" y="609600"/>
            <a:ext cx="6096000" cy="132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Startlärm sinkt um 15 Dezibel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609600" y="2946400"/>
            <a:ext cx="4470400" cy="1422400"/>
          </a:xfrm>
          <a:prstGeom prst="rect">
            <a:avLst/>
          </a:prstGeom>
          <a:solidFill>
            <a:srgbClr val="4C2FBF"/>
          </a:solidFill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 dB</a:t>
            </a:r>
            <a:endParaRPr lang="en-US" sz="9600" dirty="0"/>
          </a:p>
        </p:txBody>
      </p:sp>
      <p:sp>
        <p:nvSpPr>
          <p:cNvPr id="6" name="Text 3"/>
          <p:cNvSpPr txBox="1"/>
          <p:nvPr/>
        </p:nvSpPr>
        <p:spPr>
          <a:xfrm>
            <a:off x="609600" y="4572000"/>
            <a:ext cx="5283200" cy="508000"/>
          </a:xfrm>
          <a:prstGeom prst="rect">
            <a:avLst/>
          </a:prstGeom>
          <a:solidFill>
            <a:srgbClr val="4C2FBF"/>
          </a:solidFill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E4DE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statt 82 dB beim Turboprop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609600" y="5791200"/>
            <a:ext cx="2743200" cy="203200"/>
          </a:xfrm>
          <a:prstGeom prst="rect">
            <a:avLst/>
          </a:prstGeom>
          <a:solidFill>
            <a:srgbClr val="4C2FB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09600" y="5791200"/>
            <a:ext cx="274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4DE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Quelle: Beispieldaten (erfunden)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eichweitenring um einen Flughafen mit einem Flugzeug am Rand des weißen Rin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09600" y="609600"/>
            <a:ext cx="6096000" cy="1320800"/>
          </a:xfrm>
          <a:prstGeom prst="rect">
            <a:avLst/>
          </a:prstGeom>
          <a:solidFill>
            <a:srgbClr val="4C2FBF"/>
          </a:solidFill>
          <a:ln/>
        </p:spPr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09600" y="609600"/>
            <a:ext cx="6096000" cy="132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Batterie setzt die Grenze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609600" y="2946400"/>
            <a:ext cx="4470400" cy="1422400"/>
          </a:xfrm>
          <a:prstGeom prst="rect">
            <a:avLst/>
          </a:prstGeom>
          <a:solidFill>
            <a:srgbClr val="4C2FBF"/>
          </a:solidFill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320 km</a:t>
            </a:r>
            <a:endParaRPr lang="en-US" sz="9600" dirty="0"/>
          </a:p>
        </p:txBody>
      </p:sp>
      <p:sp>
        <p:nvSpPr>
          <p:cNvPr id="6" name="Text 3"/>
          <p:cNvSpPr txBox="1"/>
          <p:nvPr/>
        </p:nvSpPr>
        <p:spPr>
          <a:xfrm>
            <a:off x="609600" y="4572000"/>
            <a:ext cx="5283200" cy="508000"/>
          </a:xfrm>
          <a:prstGeom prst="rect">
            <a:avLst/>
          </a:prstGeom>
          <a:solidFill>
            <a:srgbClr val="4C2FBF"/>
          </a:solidFill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E4DE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Reichweite inklusive Reserve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609600" y="5791200"/>
            <a:ext cx="2743200" cy="203200"/>
          </a:xfrm>
          <a:prstGeom prst="rect">
            <a:avLst/>
          </a:prstGeom>
          <a:solidFill>
            <a:srgbClr val="4C2FB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09600" y="5791200"/>
            <a:ext cx="274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4DE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Quelle: Beispieldaten (erfunden)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treckennetz mit 30 Strecken um einen Drehkreuz-Flughafen: 14 weiße Strecken liegen innerhalb des Rings von 320 Kilometern, 16 gepunktete außerha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09600" y="609600"/>
            <a:ext cx="6096000" cy="1320800"/>
          </a:xfrm>
          <a:prstGeom prst="rect">
            <a:avLst/>
          </a:prstGeom>
          <a:solidFill>
            <a:srgbClr val="4C2FBF"/>
          </a:solidFill>
          <a:ln/>
        </p:spPr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09600" y="609600"/>
            <a:ext cx="6096000" cy="132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Vierzehn von dreißig Strecken passen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609600" y="2946400"/>
            <a:ext cx="5283200" cy="508000"/>
          </a:xfrm>
          <a:prstGeom prst="rect">
            <a:avLst/>
          </a:prstGeom>
          <a:solidFill>
            <a:srgbClr val="4C2FBF"/>
          </a:solidFill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E4DE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Strecken im Netz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609600" y="5791200"/>
            <a:ext cx="2743200" cy="203200"/>
          </a:xfrm>
          <a:prstGeom prst="rect">
            <a:avLst/>
          </a:prstGeom>
          <a:solidFill>
            <a:srgbClr val="4C2FB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09600" y="5791200"/>
            <a:ext cx="2743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4DE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Quelle: Beispieldaten (erfunden)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ier Flugzeuge in Formation über einem R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09600" y="609600"/>
            <a:ext cx="6096000" cy="1320800"/>
          </a:xfrm>
          <a:prstGeom prst="rect">
            <a:avLst/>
          </a:prstGeom>
          <a:solidFill>
            <a:srgbClr val="4C2FBF"/>
          </a:solidFill>
          <a:ln/>
        </p:spPr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09600" y="609600"/>
            <a:ext cx="6096000" cy="132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 starten 2028 mit dem Pilotbetrieb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609600" y="2946400"/>
            <a:ext cx="4470400" cy="1422400"/>
          </a:xfrm>
          <a:prstGeom prst="rect">
            <a:avLst/>
          </a:prstGeom>
          <a:solidFill>
            <a:srgbClr val="4C2FBF"/>
          </a:solidFill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600" dirty="0"/>
          </a:p>
        </p:txBody>
      </p:sp>
      <p:sp>
        <p:nvSpPr>
          <p:cNvPr id="6" name="Text 3"/>
          <p:cNvSpPr txBox="1"/>
          <p:nvPr/>
        </p:nvSpPr>
        <p:spPr>
          <a:xfrm>
            <a:off x="609600" y="4572000"/>
            <a:ext cx="5283200" cy="508000"/>
          </a:xfrm>
          <a:prstGeom prst="rect">
            <a:avLst/>
          </a:prstGeom>
          <a:solidFill>
            <a:srgbClr val="4C2FBF"/>
          </a:solidFill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E4DE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Flugzeuge auf drei Strecken</a:t>
            </a:r>
            <a:endParaRPr lang="en-US"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Fliegen ohne Kerosin (Beispieldaten)</dc:title>
  <dc:subject>PptxGenJS Presentation</dc:subject>
  <dc:creator>PptxGenJS</dc:creator>
  <cp:lastModifiedBy>PptxGenJS</cp:lastModifiedBy>
  <cp:revision>1</cp:revision>
  <dcterms:created xsi:type="dcterms:W3CDTF">2026-09-25T16:38:45Z</dcterms:created>
  <dcterms:modified xsi:type="dcterms:W3CDTF">2026-09-25T16:38:45Z</dcterms:modified>
</cp:coreProperties>
</file>