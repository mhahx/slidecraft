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Distanz in km</c:v>
                </c:pt>
              </c:strCache>
            </c:strRef>
          </c:tx>
          <c:spPr>
            <a:solidFill>
              <a:srgbClr val="7A80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024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0175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35</c:v>
                </c:pt>
                <c:pt idx="2">
                  <c:v>60</c:v>
                </c:pt>
                <c:pt idx="3">
                  <c:v>92</c:v>
                </c:pt>
                <c:pt idx="4">
                  <c:v>130</c:v>
                </c:pt>
                <c:pt idx="5">
                  <c:v>165</c:v>
                </c:pt>
                <c:pt idx="6">
                  <c:v>190</c:v>
                </c:pt>
                <c:pt idx="7">
                  <c:v>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2024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0242B"/>
                    </a:solidFill>
                    <a:latin typeface="Calibri"/>
                  </a:defRPr>
                </a:pPr>
                <a:r>
                  <a:rPr sz="1400" b="0" i="0" u="none" strike="noStrike">
                    <a:solidFill>
                      <a:srgbClr val="20242B"/>
                    </a:solidFill>
                    <a:latin typeface="Calibri"/>
                  </a:rPr>
                  <a:t>Testflug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242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Marktvolumen in Mrd. €</c:v>
                </c:pt>
              </c:strCache>
            </c:strRef>
          </c:tx>
          <c:spPr>
            <a:solidFill>
              <a:srgbClr val="7A808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024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17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Regionalflüge Europa</c:v>
                  </c:pt>
                  <c:pt idx="1">
                    <c:v>davon unter 320 km</c:v>
                  </c:pt>
                  <c:pt idx="2">
                    <c:v>erreichbar bis 2032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8.4</c:v>
                </c:pt>
                <c:pt idx="2">
                  <c:v>1.1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2024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242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Mittelverwendung in Mio. €</c:v>
                </c:pt>
              </c:strCache>
            </c:strRef>
          </c:tx>
          <c:spPr>
            <a:solidFill>
              <a:srgbClr val="B0175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024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17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0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Zulassung</c:v>
                  </c:pt>
                  <c:pt idx="1">
                    <c:v>Serienvorbereitung</c:v>
                  </c:pt>
                  <c:pt idx="2">
                    <c:v>Team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6</c:v>
                </c:pt>
                <c:pt idx="2">
                  <c:v>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400" u="none">
                  <a:solidFill>
                    <a:srgbClr val="2024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242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242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032000"/>
            <a:ext cx="6096000" cy="203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: Elektroflugzeug in Magenta in der Draufsicht über hellgrauen Ring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2032000"/>
            <a:ext cx="6096000" cy="203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9600" y="20320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Voltair: Elektroflug für Regionalstrecken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4267200"/>
            <a:ext cx="6096000" cy="406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Seed-Runde, Beispieldaten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lustration: Turboprop-Flugzeug in Grau mit Schallwellen und einer Abgasfahne nach rech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609600"/>
            <a:ext cx="10972800" cy="50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Regionalflüge sind teuer, laut und klimaschädlich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09600" y="1828800"/>
            <a:ext cx="5791200" cy="2032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Sitzkilometer kostet heute 14,2 ct.</a:t>
            </a:r>
            <a:endParaRPr lang="en-US" sz="20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Startlärm liegt bei 82 dB.</a:t>
            </a:r>
            <a:endParaRPr lang="en-US" sz="20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Passagier verursacht 112 g CO₂ je Kilometer.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19-Sitzer, der 320 Kilometer elektrisch fliegt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25600"/>
            <a:ext cx="37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ersetzt den Turboprop auf Strecken bis 320 km.</a:t>
            </a:r>
            <a:endParaRPr lang="en-US" sz="20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Geladen wird in 40 Minuten.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6800" y="1625600"/>
          <a:ext cx="6705600" cy="914400"/>
        </p:xfrm>
        <a:graphic>
          <a:graphicData uri="http://schemas.openxmlformats.org/drawingml/2006/table">
            <a:tbl>
              <a:tblPr/>
              <a:tblGrid>
                <a:gridCol w="4267200"/>
                <a:gridCol w="24384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Voltair EV-19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Sitzplätze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Reichweite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km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Ladezeit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min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Startlärm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dB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Kosten je Sitzkilometer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 ct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384800"/>
            <a:ext cx="375920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dash"/>
          </a:ln>
        </p:spPr>
      </p:sp>
      <p:pic>
        <p:nvPicPr>
          <p:cNvPr id="6" name="Image 0" descr="Kleines Flugzeug auf einer Fortschrittsleiste: je weiter rechts, desto weiter ist der Vortra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5130800"/>
            <a:ext cx="508000" cy="508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600" y="5791200"/>
            <a:ext cx="426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Herstellerdaten Voltair,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Prototyp flog 2026 erstmals 212 Kilometer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25600"/>
            <a:ext cx="37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Testflüge, kein Ausfall.</a:t>
            </a:r>
            <a:endParaRPr lang="en-US" sz="20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320 km bis Ende 2027.</a:t>
            </a:r>
            <a:endParaRPr lang="en-US" sz="2000" dirty="0"/>
          </a:p>
        </p:txBody>
      </p:sp>
      <p:graphicFrame>
        <p:nvGraphicFramePr>
          <p:cNvPr id="4" name="Chart 0" descr="Flugdistanz der acht Testflüge in km: 18, 35, 60, 92, 130, 165, 190 und 212. Der letzte Flug ist hervorgehoben."/>
          <p:cNvGraphicFramePr/>
          <p:nvPr/>
        </p:nvGraphicFramePr>
        <p:xfrm>
          <a:off x="4876800" y="1524000"/>
          <a:ext cx="67056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384800"/>
            <a:ext cx="375920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dash"/>
          </a:ln>
        </p:spPr>
      </p:sp>
      <p:pic>
        <p:nvPicPr>
          <p:cNvPr id="6" name="Image 0" descr="Kleines Flugzeug auf einer Fortschrittsleiste: je weiter rechts, desto weiter ist der Vortra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" y="5130800"/>
            <a:ext cx="508000" cy="508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600" y="5791200"/>
            <a:ext cx="426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Flugtestprotokolle Voltair,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Vierzig Prozent der Regionalflüge sind erreichbar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25600"/>
            <a:ext cx="375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 von 21 Mrd. € sind 40 %.</a:t>
            </a:r>
            <a:endParaRPr lang="en-US" sz="20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2032 erreichbar: 1,1 Mrd. €.</a:t>
            </a:r>
            <a:endParaRPr lang="en-US" sz="2000" dirty="0"/>
          </a:p>
        </p:txBody>
      </p:sp>
      <p:graphicFrame>
        <p:nvGraphicFramePr>
          <p:cNvPr id="4" name="Chart 0" descr="Marktvolumen in Mrd. Euro: Regionalflüge Europa 21, davon unter 320 km 8,4, erreichbar bis 2032: 1,1. Der erreichbare Teil ist hervorgehoben."/>
          <p:cNvGraphicFramePr/>
          <p:nvPr/>
        </p:nvGraphicFramePr>
        <p:xfrm>
          <a:off x="4876800" y="1524000"/>
          <a:ext cx="6705600" cy="294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384800"/>
            <a:ext cx="375920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dash"/>
          </a:ln>
        </p:spPr>
      </p:sp>
      <p:pic>
        <p:nvPicPr>
          <p:cNvPr id="6" name="Image 0" descr="Kleines Flugzeug auf einer Fortschrittsleiste: je weiter rechts, desto weiter ist der Vortra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80" y="5130800"/>
            <a:ext cx="508000" cy="508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600" y="5791200"/>
            <a:ext cx="426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Marktmodell Voltair,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verkaufen Flugzeuge und Wartung im Abo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25600"/>
            <a:ext cx="3759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Verkauf bringt 62 % vom Umsatz.</a:t>
            </a:r>
            <a:endParaRPr lang="en-US" sz="2000" dirty="0"/>
          </a:p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Wartung bringt 41 % Marge.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76800" y="1625600"/>
          <a:ext cx="6705600" cy="914400"/>
        </p:xfrm>
        <a:graphic>
          <a:graphicData uri="http://schemas.openxmlformats.org/drawingml/2006/table">
            <a:tbl>
              <a:tblPr/>
              <a:tblGrid>
                <a:gridCol w="2946400"/>
                <a:gridCol w="1981200"/>
                <a:gridCol w="1778000"/>
              </a:tblGrid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Erlösquelle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Anteil 2032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Flugzeugverkauf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Wartungsabo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Ladeinfrastruktur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384800"/>
            <a:ext cx="375920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dash"/>
          </a:ln>
        </p:spPr>
      </p:sp>
      <p:pic>
        <p:nvPicPr>
          <p:cNvPr id="6" name="Image 0" descr="Kleines Flugzeug auf einer Fortschrittsleiste: je weiter rechts, desto weiter ist der Vortra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5130800"/>
            <a:ext cx="508000" cy="508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600" y="5791200"/>
            <a:ext cx="426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Geschäftsplan Voltair,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Team aus Zulassung, Antrieb und Airline-Betrieb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6256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Zuvor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024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 Keller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Geschäftsführung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Flugzeugbau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Jonas Weber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Antrieb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Batterieentwicklung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Selin Aydin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Zulassung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Luftfahrtbehörde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0058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3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09600" y="5384800"/>
            <a:ext cx="375920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dash"/>
          </a:ln>
        </p:spPr>
      </p:sp>
      <p:pic>
        <p:nvPicPr>
          <p:cNvPr id="5" name="Image 0" descr="Kleines Flugzeug auf einer Fortschrittsleiste: je weiter rechts, desto weiter ist der Vortra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0560" y="5130800"/>
            <a:ext cx="508000" cy="508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09600" y="5791200"/>
            <a:ext cx="426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Unternehmensangaben Voltair,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609600"/>
            <a:ext cx="10972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suchen 18 Millionen Euro für die Zulassung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1625600"/>
            <a:ext cx="3759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0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Zugelassen bis 2029, danach Serienstart.</a:t>
            </a:r>
            <a:endParaRPr lang="en-US" sz="2000" dirty="0"/>
          </a:p>
        </p:txBody>
      </p:sp>
      <p:graphicFrame>
        <p:nvGraphicFramePr>
          <p:cNvPr id="4" name="Chart 0" descr="Mittelverwendung in Mio. Euro: Zulassung 8, Serienvorbereitung 6, Team 4. Die Zulassung ist hervorgehoben."/>
          <p:cNvGraphicFramePr/>
          <p:nvPr/>
        </p:nvGraphicFramePr>
        <p:xfrm>
          <a:off x="4876800" y="1524000"/>
          <a:ext cx="6705600" cy="2946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5384800"/>
            <a:ext cx="3759200" cy="0"/>
          </a:xfrm>
          <a:prstGeom prst="line">
            <a:avLst/>
          </a:prstGeom>
          <a:noFill/>
          <a:ln w="25400">
            <a:solidFill>
              <a:srgbClr val="D3D6DB"/>
            </a:solidFill>
            <a:prstDash val="dash"/>
          </a:ln>
        </p:spPr>
      </p:sp>
      <p:pic>
        <p:nvPicPr>
          <p:cNvPr id="6" name="Image 0" descr="Kleines Flugzeug auf einer Fortschrittsleiste: je weiter rechts, desto weiter ist der Vortrag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0" y="5130800"/>
            <a:ext cx="508000" cy="508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9600" y="5791200"/>
            <a:ext cx="4267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Finanzplan Voltair, 2026 (erfundene Daten)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5791200"/>
            <a:ext cx="609600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Voltair, Seed-Runde (Beispieldaten)</dc:title>
  <dc:subject>PptxGenJS Presentation</dc:subject>
  <dc:creator>PptxGenJS</dc:creator>
  <cp:lastModifiedBy>PptxGenJS</cp:lastModifiedBy>
  <cp:revision>1</cp:revision>
  <dcterms:created xsi:type="dcterms:W3CDTF">2026-09-25T16:44:05Z</dcterms:created>
  <dcterms:modified xsi:type="dcterms:W3CDTF">2026-09-25T16:44:05Z</dcterms:modified>
</cp:coreProperties>
</file>