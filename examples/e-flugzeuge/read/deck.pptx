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ct je Sitzkilometer</c:v>
                </c:pt>
              </c:strCache>
            </c:strRef>
          </c:tx>
          <c:spPr>
            <a:solidFill>
              <a:srgbClr val="7B879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B27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B879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2410C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Turboprop</c:v>
                  </c:pt>
                  <c:pt idx="1">
                    <c:v>E-Flugzeug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14.2</c:v>
                </c:pt>
                <c:pt idx="1">
                  <c:v>11.1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400" u="none">
                  <a:solidFill>
                    <a:srgbClr val="1B27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B27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B273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Kumulierter Saldo in Mio. €</c:v>
                </c:pt>
              </c:strCache>
            </c:strRef>
          </c:tx>
          <c:spPr>
            <a:solidFill>
              <a:srgbClr val="C2410C"/>
            </a:solidFill>
            <a:ln w="50800" cap="flat">
              <a:solidFill>
                <a:srgbClr val="C2410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B2733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2410C"/>
              </a:solidFill>
              <a:ln w="9525" cap="flat">
                <a:solidFill>
                  <a:srgbClr val="C2410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2027</c:v>
                  </c:pt>
                  <c:pt idx="1">
                    <c:v>2028</c:v>
                  </c:pt>
                  <c:pt idx="2">
                    <c:v>2029</c:v>
                  </c:pt>
                  <c:pt idx="3">
                    <c:v>2030</c:v>
                  </c:pt>
                  <c:pt idx="4">
                    <c:v>2031</c:v>
                  </c:pt>
                  <c:pt idx="5">
                    <c:v>2032</c:v>
                  </c:pt>
                  <c:pt idx="6">
                    <c:v>2033</c:v>
                  </c:pt>
                  <c:pt idx="7">
                    <c:v>2034</c:v>
                  </c:pt>
                  <c:pt idx="8">
                    <c:v>2035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-45</c:v>
                </c:pt>
                <c:pt idx="1">
                  <c:v>-98</c:v>
                </c:pt>
                <c:pt idx="2">
                  <c:v>-137</c:v>
                </c:pt>
                <c:pt idx="3">
                  <c:v>-118</c:v>
                </c:pt>
                <c:pt idx="4">
                  <c:v>-89</c:v>
                </c:pt>
                <c:pt idx="5">
                  <c:v>-49</c:v>
                </c:pt>
                <c:pt idx="6">
                  <c:v>3</c:v>
                </c:pt>
                <c:pt idx="7">
                  <c:v>52</c:v>
                </c:pt>
                <c:pt idx="8">
                  <c:v>104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1B2733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B27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0D5D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1B2733"/>
                    </a:solidFill>
                    <a:latin typeface="Arial"/>
                  </a:defRPr>
                </a:pPr>
                <a:r>
                  <a:rPr sz="1400" b="0" i="0" u="none" strike="noStrike">
                    <a:solidFill>
                      <a:srgbClr val="1B2733"/>
                    </a:solidFill>
                    <a:latin typeface="Arial"/>
                  </a:rPr>
                  <a:t>Mio. €</a:t>
                </a:r>
              </a:p>
            </c:rich>
          </c:tx>
          <c:layout/>
          <c:overlay val="0"/>
        </c:title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B273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2032000"/>
            <a:ext cx="6096000" cy="2032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609600"/>
            <a:ext cx="10972800" cy="50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5791200"/>
            <a:ext cx="609600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8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609600"/>
            <a:ext cx="10972800" cy="50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5791200"/>
            <a:ext cx="609600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8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p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609600"/>
            <a:ext cx="10972800" cy="50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5791200"/>
            <a:ext cx="609600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8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609600"/>
            <a:ext cx="10972800" cy="50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5791200"/>
            <a:ext cx="609600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8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5791200"/>
            <a:ext cx="609600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8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llustration: Elektroflugzeug in der Draufsicht, orange, über hellgrauen Reichweitenring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09600" y="2032000"/>
            <a:ext cx="6096000" cy="2032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09600" y="2032000"/>
            <a:ext cx="6096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E-Regionalflugzeuge: Entscheidungsvorlage für den Vorstand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609600" y="4267200"/>
            <a:ext cx="6096000" cy="3048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Beispieldaten: alle Zahlen sind erfunden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609600"/>
            <a:ext cx="10972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von 30 Strecken liegen innerhalb von 320 Kilometern</a:t>
            </a:r>
            <a:endParaRPr lang="en-US" sz="2800" dirty="0"/>
          </a:p>
        </p:txBody>
      </p:sp>
      <p:pic>
        <p:nvPicPr>
          <p:cNvPr id="3" name="Image 0" descr="Streckenkarte des Beispielnetzes: 30 Strecken vom Drehkreuz, 14 orange innerhalb des Rings von 320 Kilometern, 16 grau außerhalb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524000"/>
            <a:ext cx="5422900" cy="4064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705600" y="1625600"/>
            <a:ext cx="4876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Strecken (47 %) sind elektrisch erreichbar.</a:t>
            </a:r>
            <a:endParaRPr lang="en-US" sz="1800" dirty="0"/>
          </a:p>
          <a:p>
            <a:pPr algn="l" indent="0" marL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 tragen 38 % der Passagiere.</a:t>
            </a:r>
            <a:endParaRPr lang="en-US" sz="1800" dirty="0"/>
          </a:p>
          <a:p>
            <a:pPr algn="l" indent="0" marL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übrigen 16 bleiben beim Turboprop.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6705600" y="4508500"/>
            <a:ext cx="177800" cy="177800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12000" y="4470400"/>
            <a:ext cx="4470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Strecke innerhalb von 320 km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705600" y="4914900"/>
            <a:ext cx="177800" cy="177800"/>
          </a:xfrm>
          <a:prstGeom prst="ellipse">
            <a:avLst/>
          </a:prstGeom>
          <a:ln w="19050">
            <a:solidFill>
              <a:srgbClr val="7B879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112000" y="4876800"/>
            <a:ext cx="4470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Strecke darüber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705600" y="5321300"/>
            <a:ext cx="177800" cy="177800"/>
          </a:xfrm>
          <a:prstGeom prst="ellipse">
            <a:avLst/>
          </a:prstGeom>
          <a:ln w="19050">
            <a:solidFill>
              <a:srgbClr val="C2410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112000" y="5283200"/>
            <a:ext cx="4470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Ring: 320 km Reichweite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09600" y="5791200"/>
            <a:ext cx="9753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Quelle: Streckennetz der Beispielairline, Stand 2026 (erfundene Daten)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5791200"/>
            <a:ext cx="609600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8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609600"/>
            <a:ext cx="10972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E-Flugzeug wird der Sitzkilometer 22 % günstiger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1524000"/>
          <a:ext cx="5486400" cy="914400"/>
        </p:xfrm>
        <a:graphic>
          <a:graphicData uri="http://schemas.openxmlformats.org/drawingml/2006/table">
            <a:tbl>
              <a:tblPr/>
              <a:tblGrid>
                <a:gridCol w="2438400"/>
                <a:gridCol w="1524000"/>
                <a:gridCol w="1524000"/>
              </a:tblGrid>
              <a:tr h="508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ct je Sitzkilometer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058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B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Turboprop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058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B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E-Flugzeug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058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Energie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058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058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058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Wartung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058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058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058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Kapital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058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058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058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Personal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058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058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058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058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B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058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B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058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Chart 0" descr="Kosten je Sitzkilometer in Cent: Turboprop 14,2, E-Flugzeug 11,1."/>
          <p:cNvGraphicFramePr/>
          <p:nvPr/>
        </p:nvGraphicFramePr>
        <p:xfrm>
          <a:off x="6705600" y="1524000"/>
          <a:ext cx="4876800" cy="203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705600" y="3860800"/>
            <a:ext cx="487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 und Wartung sinken zusammen um 3,9 ct, das Kapital steigt um 0,8 ct.</a:t>
            </a:r>
            <a:endParaRPr lang="en-US" sz="1800" dirty="0"/>
          </a:p>
        </p:txBody>
      </p:sp>
      <p:sp>
        <p:nvSpPr>
          <p:cNvPr id="6" name="Text 2"/>
          <p:cNvSpPr txBox="1"/>
          <p:nvPr/>
        </p:nvSpPr>
        <p:spPr>
          <a:xfrm>
            <a:off x="609600" y="5791200"/>
            <a:ext cx="9753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Quelle: Kostenmodell Flottenplanung, Annahmen 2026 (erfundene Daten)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5791200"/>
            <a:ext cx="609600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8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609600"/>
            <a:ext cx="10972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320 Kilometer Reichweite bleiben die harte Grenze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1524000"/>
          <a:ext cx="57912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524000"/>
                <a:gridCol w="1524000"/>
              </a:tblGrid>
              <a:tr h="508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Merkmal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058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B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Turboprop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058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B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E-Flugzeug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058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Sitzplätze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058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058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058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Reichweite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058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900 km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058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320 km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058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Lade- oder Tankzeit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058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 min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058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 min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058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Startlärm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058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 dB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058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 dB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10058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4" name="Image 0" descr="Technische Zeichnung des E-Flugzeugs Modell EV-19 in der Draufsicht mit vier Propellern und einer Maßlinie unter der Spannweit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40600" y="1320800"/>
            <a:ext cx="4089400" cy="42672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09600" y="4368800"/>
            <a:ext cx="5791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Minuten Reserve sind eingerechnet.</a:t>
            </a:r>
            <a:endParaRPr lang="en-US" sz="1800" dirty="0"/>
          </a:p>
          <a:p>
            <a:pPr algn="l" indent="0" marL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Jeder Zielflughafen braucht einen Schnelllader.</a:t>
            </a:r>
            <a:endParaRPr lang="en-US" sz="1800" dirty="0"/>
          </a:p>
        </p:txBody>
      </p:sp>
      <p:sp>
        <p:nvSpPr>
          <p:cNvPr id="6" name="Text 2"/>
          <p:cNvSpPr txBox="1"/>
          <p:nvPr/>
        </p:nvSpPr>
        <p:spPr>
          <a:xfrm>
            <a:off x="609600" y="5791200"/>
            <a:ext cx="9753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Quelle: Herstellerangaben Modell EV-19, Vorabversion 2026 (erfundene Daten)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5791200"/>
            <a:ext cx="609600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8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609600"/>
            <a:ext cx="10972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137 Mio. € Investition amortisieren sich bis 2033</a:t>
            </a:r>
            <a:endParaRPr lang="en-US" sz="2800" dirty="0"/>
          </a:p>
        </p:txBody>
      </p:sp>
      <p:graphicFrame>
        <p:nvGraphicFramePr>
          <p:cNvPr id="3" name="Chart 0" descr="Kumulierter Saldo in Mio. Euro von 2027 bis 2035: Tiefpunkt minus 137 im Jahr 2029, Nulldurchgang 2033, plus 104 im Jahr 2035."/>
          <p:cNvGraphicFramePr/>
          <p:nvPr/>
        </p:nvGraphicFramePr>
        <p:xfrm>
          <a:off x="609600" y="1524000"/>
          <a:ext cx="7924800" cy="4064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9144000" y="1625600"/>
            <a:ext cx="2438400" cy="223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Investition: 14 × 9,8 Mio. €.</a:t>
            </a:r>
            <a:endParaRPr lang="en-US" sz="1800" dirty="0"/>
          </a:p>
          <a:p>
            <a:pPr algn="l" indent="0" marL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Tiefpunkt 2029 bei −137 Mio. €.</a:t>
            </a:r>
            <a:endParaRPr lang="en-US" sz="1800" dirty="0"/>
          </a:p>
          <a:p>
            <a:pPr algn="l" indent="0" marL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Annahme: 74 % Auslastung.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609600" y="5791200"/>
            <a:ext cx="9753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Quelle: Investitionsplanung, Annahmen 2026 (erfundene Daten)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5791200"/>
            <a:ext cx="609600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8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609600"/>
            <a:ext cx="10972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 empfehlen einen Pilotbetrieb mit vier Flugzeugen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09600" y="2032000"/>
            <a:ext cx="10972800" cy="0"/>
          </a:xfrm>
          <a:prstGeom prst="line">
            <a:avLst/>
          </a:prstGeom>
          <a:noFill/>
          <a:ln w="19050">
            <a:solidFill>
              <a:srgbClr val="1B27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600" y="1930400"/>
            <a:ext cx="203200" cy="203200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09600" y="2336800"/>
            <a:ext cx="24384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2027</a:t>
            </a: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Bestellung von 4 Flugzeugen</a:t>
            </a: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39,2 Mio. €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454400" y="1930400"/>
            <a:ext cx="203200" cy="203200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454400" y="2336800"/>
            <a:ext cx="24384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2027</a:t>
            </a: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Ladeinfrastruktur an 2 Flughäfen</a:t>
            </a: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6,0 Mio. €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99200" y="1930400"/>
            <a:ext cx="203200" cy="203200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99200" y="2336800"/>
            <a:ext cx="24384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 Q2 2028</a:t>
            </a: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Pilotbetrieb auf 3 Strecken</a:t>
            </a: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 Mio. €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0" y="1930400"/>
            <a:ext cx="203200" cy="203200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0" y="2336800"/>
            <a:ext cx="24384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2029</a:t>
            </a: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Entscheidung über Serienausbau</a:t>
            </a: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09600" y="4267200"/>
            <a:ext cx="10972800" cy="1219200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lIns="304800" tIns="0" rIns="30480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Beschluss erbeten: Freigabe von 49,2 Mio. € für den Pilotbetrieb.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09600" y="5791200"/>
            <a:ext cx="9753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Quelle: Investitionsplanung, Annahmen 2026 (erfundene Daten)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5791200"/>
            <a:ext cx="609600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8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E-Regionalflugzeuge, Entscheidungsvorlage (Beispieldaten)</dc:title>
  <dc:subject>PptxGenJS Presentation</dc:subject>
  <dc:creator>PptxGenJS</dc:creator>
  <cp:lastModifiedBy>PptxGenJS</cp:lastModifiedBy>
  <cp:revision>1</cp:revision>
  <dcterms:created xsi:type="dcterms:W3CDTF">2026-09-25T16:46:26Z</dcterms:created>
  <dcterms:modified xsi:type="dcterms:W3CDTF">2026-09-25T16:46:26Z</dcterms:modified>
</cp:coreProperties>
</file>