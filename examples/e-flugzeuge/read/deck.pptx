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Strecken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7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1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879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B879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bis 150 km</c:v>
                  </c:pt>
                  <c:pt idx="1">
                    <c:v>150 bis 320 km</c:v>
                  </c:pt>
                  <c:pt idx="2">
                    <c:v>320 bis 500 km</c:v>
                  </c:pt>
                  <c:pt idx="3">
                    <c:v>über 500 km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9</c:v>
                </c:pt>
                <c:pt idx="2">
                  <c:v>8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27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Kumulierter Saldo in Mio. €</c:v>
                </c:pt>
              </c:strCache>
            </c:strRef>
          </c:tx>
          <c:spPr>
            <a:solidFill>
              <a:srgbClr val="C2410C"/>
            </a:solidFill>
            <a:ln w="38100" cap="flat">
              <a:solidFill>
                <a:srgbClr val="C241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733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410C"/>
              </a:solidFill>
              <a:ln w="9525" cap="flat">
                <a:solidFill>
                  <a:srgbClr val="C241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  <c:pt idx="3">
                    <c:v>2030</c:v>
                  </c:pt>
                  <c:pt idx="4">
                    <c:v>2031</c:v>
                  </c:pt>
                  <c:pt idx="5">
                    <c:v>2032</c:v>
                  </c:pt>
                  <c:pt idx="6">
                    <c:v>2033</c:v>
                  </c:pt>
                  <c:pt idx="7">
                    <c:v>2034</c:v>
                  </c:pt>
                  <c:pt idx="8">
                    <c:v>2035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-45</c:v>
                </c:pt>
                <c:pt idx="1">
                  <c:v>-98</c:v>
                </c:pt>
                <c:pt idx="2">
                  <c:v>-137</c:v>
                </c:pt>
                <c:pt idx="3">
                  <c:v>-118</c:v>
                </c:pt>
                <c:pt idx="4">
                  <c:v>-89</c:v>
                </c:pt>
                <c:pt idx="5">
                  <c:v>-49</c:v>
                </c:pt>
                <c:pt idx="6">
                  <c:v>3</c:v>
                </c:pt>
                <c:pt idx="7">
                  <c:v>52</c:v>
                </c:pt>
                <c:pt idx="8">
                  <c:v>104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2733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0D5D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73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2032000"/>
            <a:ext cx="9753600" cy="1422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1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1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2032000"/>
            <a:ext cx="97536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E-Regionalflugzeuge: Entscheidungsvorlage für den Vorstand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09600" y="3759200"/>
            <a:ext cx="9753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Beispieldaten: alle Zahlen sind erfunden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von 30 Strecken liegen innerhalb von 320 Kilometern</a:t>
            </a:r>
            <a:endParaRPr lang="en-US" sz="2800" dirty="0"/>
          </a:p>
        </p:txBody>
      </p:sp>
      <p:graphicFrame>
        <p:nvGraphicFramePr>
          <p:cNvPr id="3" name="Chart 0" descr="Anzahl der Strecken nach Entfernung: 5 bis 150 km, 9 bis 320 km, 8 bis 500 km, 8 darüber. Die ersten zwei Klassen sind hervorgehoben."/>
          <p:cNvGraphicFramePr/>
          <p:nvPr/>
        </p:nvGraphicFramePr>
        <p:xfrm>
          <a:off x="609600" y="1828800"/>
          <a:ext cx="6705600" cy="375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24800" y="203200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Strecken (47 %) sind elektrisch erreichbar.</a:t>
            </a:r>
            <a:endParaRPr lang="en-US" sz="18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tragen 38 % der Passagiere.</a:t>
            </a:r>
            <a:endParaRPr lang="en-US" sz="18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übrigen 16 bleiben beim Turboprop.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Streckennetz der Beispielairline, Stand 2026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Sitzkilometer wird mit dem E-Flugzeug 22 % günstiger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828800"/>
          <a:ext cx="6705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524000"/>
                <a:gridCol w="152400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ct je Sitzkilometer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Turboprop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E-Flugzeug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Wartung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24800" y="2032000"/>
            <a:ext cx="3657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 und Wartung sinken zusammen um 3,9 ct, das Kapital steigt um 0,8 ct.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Kostenmodell Flottenplanung, Annahmen 2026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Reichweite von 320 Kilometern bleibt die harte Grenze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828800"/>
          <a:ext cx="6705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524000"/>
                <a:gridCol w="152400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Merkmal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Turboprop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E-Flugzeug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Sitzplätze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Reichweite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 km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 km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Lade- oder Tankzeit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Startlärm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 dB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 dB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24800" y="2032000"/>
            <a:ext cx="36576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Minuten Reserve sind eingerechnet.</a:t>
            </a:r>
            <a:endParaRPr lang="en-US" sz="18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Zielflughafen braucht einen Schnelllader.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Herstellerangaben Modell EV-19, Vorabversion 2026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2033 amortisieren sich 14 Flugzeuge bei 137 Mio. € Investition</a:t>
            </a:r>
            <a:endParaRPr lang="en-US" sz="2800" dirty="0"/>
          </a:p>
        </p:txBody>
      </p:sp>
      <p:graphicFrame>
        <p:nvGraphicFramePr>
          <p:cNvPr id="3" name="Chart 0" descr="Kumulierter Saldo in Mio. Euro von 2027 bis 2035: Tiefpunkt minus 137 im Jahr 2029, Nulldurchgang 2033, plus 104 im Jahr 2035."/>
          <p:cNvGraphicFramePr/>
          <p:nvPr/>
        </p:nvGraphicFramePr>
        <p:xfrm>
          <a:off x="609600" y="1828800"/>
          <a:ext cx="6705600" cy="375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24800" y="2032000"/>
            <a:ext cx="3657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Investition: 14 × 9,8 Mio. €.</a:t>
            </a:r>
            <a:endParaRPr lang="en-US" sz="18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Tiefpunkt 2029 bei −137 Mio. €.</a:t>
            </a:r>
            <a:endParaRPr lang="en-US" sz="18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Annahme: 74 % Auslastung.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Investitionsplanung, Annahmen 2026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109728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empfehlen einen Pilotbetrieb mit vier Flugzeugen ab 2028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828800"/>
          <a:ext cx="1097280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28600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Zeitpunkt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7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Bestellung von 4 Flugzeugen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Q1 2027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39,2 Mio. 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Ladeinfrastruktur an 2 Flughäfen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Q3 2027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 Mio. 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Pilotbetrieb auf 3 Strecken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Q2 2028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 Mio. 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Entscheidung über Serienausbau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Q4 2029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0058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0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09600" y="4775200"/>
            <a:ext cx="109728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Beschluss erbeten: Freigabe von 49,2 Mio. € für den Pilotbetrieb.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5791200"/>
            <a:ext cx="9753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Investitionsplanung, Annahmen 2026 (erfundene Daten)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5791200"/>
            <a:ext cx="609600" cy="304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E-Regionalflugzeuge, Entscheidungsvorlage (Beispieldaten)</dc:title>
  <dc:subject>PptxGenJS Presentation</dc:subject>
  <dc:creator>PptxGenJS</dc:creator>
  <cp:lastModifiedBy>PptxGenJS</cp:lastModifiedBy>
  <cp:revision>1</cp:revision>
  <dcterms:created xsi:type="dcterms:W3CDTF">2026-09-25T16:18:00Z</dcterms:created>
  <dcterms:modified xsi:type="dcterms:W3CDTF">2026-09-25T16:18:00Z</dcterms:modified>
</cp:coreProperties>
</file>