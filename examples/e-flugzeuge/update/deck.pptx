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7A808A"/>
            </a:solidFill>
            <a:ln w="50800" cap="flat">
              <a:solidFill>
                <a:srgbClr val="7A808A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808A"/>
              </a:solidFill>
              <a:ln w="9525" cap="flat">
                <a:solidFill>
                  <a:srgbClr val="7A80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KW 35</c:v>
                  </c:pt>
                  <c:pt idx="1">
                    <c:v>KW 36</c:v>
                  </c:pt>
                  <c:pt idx="2">
                    <c:v>KW 37</c:v>
                  </c:pt>
                  <c:pt idx="3">
                    <c:v>KW 38</c:v>
                  </c:pt>
                  <c:pt idx="4">
                    <c:v>KW 39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62</c:v>
                </c:pt>
                <c:pt idx="2">
                  <c:v>70</c:v>
                </c:pt>
                <c:pt idx="3">
                  <c:v>78</c:v>
                </c:pt>
                <c:pt idx="4">
                  <c:v>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Ist</c:v>
                </c:pt>
              </c:strCache>
            </c:strRef>
          </c:tx>
          <c:spPr>
            <a:solidFill>
              <a:srgbClr val="1F4E79"/>
            </a:solidFill>
            <a:ln w="5080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KW 35</c:v>
                  </c:pt>
                  <c:pt idx="1">
                    <c:v>KW 36</c:v>
                  </c:pt>
                  <c:pt idx="2">
                    <c:v>KW 37</c:v>
                  </c:pt>
                  <c:pt idx="3">
                    <c:v>KW 38</c:v>
                  </c:pt>
                  <c:pt idx="4">
                    <c:v>KW 39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52</c:v>
                </c:pt>
                <c:pt idx="1">
                  <c:v>57</c:v>
                </c:pt>
                <c:pt idx="2">
                  <c:v>61</c:v>
                </c:pt>
                <c:pt idx="3">
                  <c:v>64</c:v>
                </c:pt>
                <c:pt idx="4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9525" cap="flat">
              <a:solidFill>
                <a:srgbClr val="D0D5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B2733"/>
                    </a:solidFill>
                    <a:latin typeface="Calibri"/>
                  </a:defRPr>
                </a:pPr>
                <a:r>
                  <a:rPr sz="1400" b="0" i="0" u="none" strike="noStrike">
                    <a:solidFill>
                      <a:srgbClr val="1B2733"/>
                    </a:solidFill>
                    <a:latin typeface="Calibri"/>
                  </a:rPr>
                  <a:t>Fortschritt in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B27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7A808A"/>
            </a:solidFill>
            <a:ln w="50800" cap="flat">
              <a:solidFill>
                <a:srgbClr val="7A808A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808A"/>
              </a:solidFill>
              <a:ln w="9525" cap="flat">
                <a:solidFill>
                  <a:srgbClr val="7A80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KW 35</c:v>
                  </c:pt>
                  <c:pt idx="1">
                    <c:v>KW 36</c:v>
                  </c:pt>
                  <c:pt idx="2">
                    <c:v>KW 37</c:v>
                  </c:pt>
                  <c:pt idx="3">
                    <c:v>KW 38</c:v>
                  </c:pt>
                  <c:pt idx="4">
                    <c:v>KW 39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48</c:v>
                </c:pt>
                <c:pt idx="2">
                  <c:v>56</c:v>
                </c:pt>
                <c:pt idx="3">
                  <c:v>64</c:v>
                </c:pt>
                <c:pt idx="4">
                  <c:v>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Ist</c:v>
                </c:pt>
              </c:strCache>
            </c:strRef>
          </c:tx>
          <c:spPr>
            <a:solidFill>
              <a:srgbClr val="1F4E79"/>
            </a:solidFill>
            <a:ln w="5080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KW 35</c:v>
                  </c:pt>
                  <c:pt idx="1">
                    <c:v>KW 36</c:v>
                  </c:pt>
                  <c:pt idx="2">
                    <c:v>KW 37</c:v>
                  </c:pt>
                  <c:pt idx="3">
                    <c:v>KW 38</c:v>
                  </c:pt>
                  <c:pt idx="4">
                    <c:v>KW 39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41</c:v>
                </c:pt>
                <c:pt idx="1">
                  <c:v>49</c:v>
                </c:pt>
                <c:pt idx="2">
                  <c:v>56</c:v>
                </c:pt>
                <c:pt idx="3">
                  <c:v>64</c:v>
                </c:pt>
                <c:pt idx="4">
                  <c:v>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30"/>
        </c:scaling>
        <c:delete val="0"/>
        <c:axPos val="l"/>
        <c:majorGridlines>
          <c:spPr>
            <a:ln w="9525" cap="flat">
              <a:solidFill>
                <a:srgbClr val="D0D5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B2733"/>
                    </a:solidFill>
                    <a:latin typeface="Calibri"/>
                  </a:defRPr>
                </a:pPr>
                <a:r>
                  <a:rPr sz="1400" b="0" i="0" u="none" strike="noStrike">
                    <a:solidFill>
                      <a:srgbClr val="1B2733"/>
                    </a:solidFill>
                    <a:latin typeface="Calibri"/>
                  </a:rPr>
                  <a:t>Fortschritt in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B27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7A808A"/>
            </a:solidFill>
            <a:ln w="50800" cap="flat">
              <a:solidFill>
                <a:srgbClr val="7A808A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808A"/>
              </a:solidFill>
              <a:ln w="9525" cap="flat">
                <a:solidFill>
                  <a:srgbClr val="7A80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KW 35</c:v>
                  </c:pt>
                  <c:pt idx="1">
                    <c:v>KW 36</c:v>
                  </c:pt>
                  <c:pt idx="2">
                    <c:v>KW 37</c:v>
                  </c:pt>
                  <c:pt idx="3">
                    <c:v>KW 38</c:v>
                  </c:pt>
                  <c:pt idx="4">
                    <c:v>KW 39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6.8</c:v>
                </c:pt>
                <c:pt idx="2">
                  <c:v>7.6</c:v>
                </c:pt>
                <c:pt idx="3">
                  <c:v>8.4</c:v>
                </c:pt>
                <c:pt idx="4">
                  <c:v>9.2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Ist</c:v>
                </c:pt>
              </c:strCache>
            </c:strRef>
          </c:tx>
          <c:spPr>
            <a:solidFill>
              <a:srgbClr val="1F4E79"/>
            </a:solidFill>
            <a:ln w="5080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KW 35</c:v>
                  </c:pt>
                  <c:pt idx="1">
                    <c:v>KW 36</c:v>
                  </c:pt>
                  <c:pt idx="2">
                    <c:v>KW 37</c:v>
                  </c:pt>
                  <c:pt idx="3">
                    <c:v>KW 38</c:v>
                  </c:pt>
                  <c:pt idx="4">
                    <c:v>KW 39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5.9</c:v>
                </c:pt>
                <c:pt idx="1">
                  <c:v>6.6</c:v>
                </c:pt>
                <c:pt idx="2">
                  <c:v>7.3</c:v>
                </c:pt>
                <c:pt idx="3">
                  <c:v>8</c:v>
                </c:pt>
                <c:pt idx="4">
                  <c:v>8.8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4"/>
        </c:scaling>
        <c:delete val="0"/>
        <c:axPos val="l"/>
        <c:majorGridlines>
          <c:spPr>
            <a:ln w="9525" cap="flat">
              <a:solidFill>
                <a:srgbClr val="D0D5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B2733"/>
                    </a:solidFill>
                    <a:latin typeface="Calibri"/>
                  </a:defRPr>
                </a:pPr>
                <a:r>
                  <a:rPr sz="1400" b="0" i="0" u="none" strike="noStrike">
                    <a:solidFill>
                      <a:srgbClr val="1B2733"/>
                    </a:solidFill>
                    <a:latin typeface="Calibri"/>
                  </a:rPr>
                  <a:t>Kosten in Mio. €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B27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032000"/>
            <a:ext cx="6096000" cy="1422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vervie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u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lustration: Elektroflugzeug in Stahlblau in der Draufsicht über hellgrauen Ring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2032000"/>
            <a:ext cx="6096000" cy="142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09600" y="2032000"/>
            <a:ext cx="6096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Pilotprojekt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E-Regionalflug, KW 39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3657600"/>
            <a:ext cx="609600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Beispieldaten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Projekt liegt zwei Wochen hinter dem Plan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524000"/>
          <a:ext cx="10972800" cy="914400"/>
        </p:xfrm>
        <a:graphic>
          <a:graphicData uri="http://schemas.openxmlformats.org/drawingml/2006/table">
            <a:tbl>
              <a:tblPr/>
              <a:tblGrid>
                <a:gridCol w="2235200"/>
                <a:gridCol w="1219200"/>
                <a:gridCol w="2032000"/>
                <a:gridCol w="1930400"/>
                <a:gridCol w="35560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Bereich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Abweichung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Nächster Schritt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Zulassung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verschlechtert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Wochen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Batterienachweis einreichen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Grün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gleichbleibend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 Plan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Dauerlauf-Test starten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Ladeinfrastruktur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verschlechtert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Woche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Vergabe bis KW 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Grün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gleichbleibend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−0,4 Mio. 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Prognose im Oktober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verbessert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Stelle offen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Zwei Zusagen erwartet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9600" y="579120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Projektcontrolling, KW 39 (erfundene Daten)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Zulassung: Batterienachweis verzögert sich um zwei Wochen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524000"/>
            <a:ext cx="3759200" cy="711200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lIns="203200" tIns="0" rIns="20320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Rot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2438400"/>
            <a:ext cx="3759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verschlechtert seit KW 37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Abweichung: +2 Wochen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3556000"/>
            <a:ext cx="37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Nächster Schritt</a:t>
            </a:r>
            <a:endParaRPr lang="en-US" sz="14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Nachweis bis KW 41 einreichen</a:t>
            </a:r>
            <a:endParaRPr lang="en-US" sz="1400" dirty="0"/>
          </a:p>
        </p:txBody>
      </p:sp>
      <p:graphicFrame>
        <p:nvGraphicFramePr>
          <p:cNvPr id="6" name="Chart 0" descr="Fortschritt der Zulassung in Prozent, KW 35 bis 39. Plan steigt von 55 auf 86, Ist von 52 auf 66."/>
          <p:cNvGraphicFramePr/>
          <p:nvPr/>
        </p:nvGraphicFramePr>
        <p:xfrm>
          <a:off x="4876800" y="1524000"/>
          <a:ext cx="67056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9600" y="579120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Projektcontrolling, KW 39 (erfundene Daten)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Prototyp: Der Dauerlauf-Test startet planmäßig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524000"/>
            <a:ext cx="3759200" cy="71120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203200" tIns="0" rIns="20320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Grün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2438400"/>
            <a:ext cx="3759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gleichbleibend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Abweichung: im Plan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3556000"/>
            <a:ext cx="37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Nächster Schritt</a:t>
            </a:r>
            <a:endParaRPr lang="en-US" sz="14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Dauerlauf in KW 40 starten</a:t>
            </a:r>
            <a:endParaRPr lang="en-US" sz="1400" dirty="0"/>
          </a:p>
        </p:txBody>
      </p:sp>
      <p:graphicFrame>
        <p:nvGraphicFramePr>
          <p:cNvPr id="6" name="Chart 0" descr="Fortschritt des Prototyps in Prozent, KW 35 bis 39. Plan und Ist liegen übereinander bei 72 Prozent in KW 39."/>
          <p:cNvGraphicFramePr/>
          <p:nvPr/>
        </p:nvGraphicFramePr>
        <p:xfrm>
          <a:off x="4876800" y="1524000"/>
          <a:ext cx="67056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9600" y="579120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Projektcontrolling, KW 39 (erfundene Daten)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Die Prognose liegt 0,4 Mio. € unter Plan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524000"/>
            <a:ext cx="3759200" cy="71120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203200" tIns="0" rIns="20320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Grün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2438400"/>
            <a:ext cx="3759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gleichbleibend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Abweichung: −0,4 Mio. €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3556000"/>
            <a:ext cx="37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Nächster Schritt</a:t>
            </a:r>
            <a:endParaRPr lang="en-US" sz="14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im Oktober aktualisieren</a:t>
            </a:r>
            <a:endParaRPr lang="en-US" sz="1400" dirty="0"/>
          </a:p>
        </p:txBody>
      </p:sp>
      <p:graphicFrame>
        <p:nvGraphicFramePr>
          <p:cNvPr id="6" name="Chart 0" descr="Kumulierte Kosten in Mio. Euro, KW 35 bis 39. Plan 9,2, Ist 8,8 in KW 39."/>
          <p:cNvGraphicFramePr/>
          <p:nvPr/>
        </p:nvGraphicFramePr>
        <p:xfrm>
          <a:off x="4876800" y="1524000"/>
          <a:ext cx="67056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9600" y="579120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Projektcontrolling, KW 39 (erfundene Daten)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Pilotprojekt E-Regionalflug, KW 39 (Beispieldaten)</dc:title>
  <dc:subject>PptxGenJS Presentation</dc:subject>
  <dc:creator>PptxGenJS</dc:creator>
  <cp:lastModifiedBy>PptxGenJS</cp:lastModifiedBy>
  <cp:revision>1</cp:revision>
  <dcterms:created xsi:type="dcterms:W3CDTF">2026-09-25T16:46:26Z</dcterms:created>
  <dcterms:modified xsi:type="dcterms:W3CDTF">2026-09-25T16:46:26Z</dcterms:modified>
</cp:coreProperties>
</file>