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c:pt>
              </c:strCache>
            </c:strRef>
          </c:tx>
          <c:spPr>
            <a:solidFill>
              <a:srgbClr val="857F75"/>
            </a:solidFill>
            <a:effectLst/>
          </c:spPr>
          <c:invertIfNegative val="0"/>
          <c:dLbls>
            <c:numFmt formatCode="#,##0" sourceLinked="0"/>
            <c:txPr>
              <a:bodyPr/>
              <a:lstStyle/>
              <a:p>
                <a:pPr>
                  <a:defRPr b="0" i="0" strike="noStrike" sz="1600" u="none">
                    <a:solidFill>
                      <a:srgbClr val="E8E1D8"/>
                    </a:solidFill>
                    <a:latin typeface="Arial"/>
                  </a:defRPr>
                </a:pPr>
              </a:p>
            </c:txPr>
            <c:showLegendKey val="0"/>
            <c:showVal val="1"/>
            <c:showCatName val="0"/>
            <c:showSerName val="0"/>
            <c:showPercent val="0"/>
            <c:showBubbleSize val="0"/>
            <c:showLeaderLines val="0"/>
          </c:dLbls>
          <c:dPt>
            <c:idx val="0"/>
            <c:invertIfNegative val="0"/>
            <c:bubble3D val="0"/>
            <c:spPr>
              <a:solidFill>
                <a:srgbClr val="857F75"/>
              </a:solidFill>
              <a:effectLst/>
            </c:spPr>
          </c:dPt>
          <c:dPt>
            <c:idx val="1"/>
            <c:invertIfNegative val="0"/>
            <c:bubble3D val="0"/>
            <c:spPr>
              <a:solidFill>
                <a:srgbClr val="857F75"/>
              </a:solidFill>
              <a:effectLst/>
            </c:spPr>
          </c:dPt>
          <c:dPt>
            <c:idx val="2"/>
            <c:invertIfNegative val="0"/>
            <c:bubble3D val="0"/>
            <c:spPr>
              <a:solidFill>
                <a:srgbClr val="857F75"/>
              </a:solidFill>
              <a:effectLst/>
            </c:spPr>
          </c:dPt>
          <c:dPt>
            <c:idx val="3"/>
            <c:invertIfNegative val="0"/>
            <c:bubble3D val="0"/>
            <c:spPr>
              <a:solidFill>
                <a:srgbClr val="D97B3E"/>
              </a:solidFill>
              <a:effectLst/>
            </c:spPr>
          </c:dPt>
          <c:cat>
            <c:multiLvlStrRef>
              <c:f>Sheet1!$A$2:$A$5</c:f>
              <c:multiLvlStrCache>
                <c:ptCount val="4"/>
                <c:lvl>
                  <c:pt idx="0">
                    <c:v>kahl</c:v>
                  </c:pt>
                  <c:pt idx="1">
                    <c:v>wenig</c:v>
                  </c:pt>
                  <c:pt idx="2">
                    <c:v>mittel</c:v>
                  </c:pt>
                  <c:pt idx="3">
                    <c:v>dicht</c:v>
                  </c:pt>
                </c:lvl>
              </c:multiLvlStrCache>
            </c:multiLvlStrRef>
          </c:cat>
          <c:val>
            <c:numRef>
              <c:f>Sheet1!$B$2:$B$5</c:f>
              <c:numCache>
                <c:formatCode>General</c:formatCode>
                <c:ptCount val="4"/>
                <c:pt idx="0">
                  <c:v>38</c:v>
                </c:pt>
                <c:pt idx="1">
                  <c:v>34</c:v>
                </c:pt>
                <c:pt idx="2">
                  <c:v>31</c:v>
                </c:pt>
                <c:pt idx="3">
                  <c:v>28</c:v>
                </c:pt>
              </c:numCache>
            </c:numRef>
          </c:val>
        </c:ser>
        <c:dLbls>
          <c:numFmt formatCode="#,##0" sourceLinked="0"/>
          <c:txPr>
            <a:bodyPr/>
            <a:lstStyle/>
            <a:p>
              <a:pPr>
                <a:defRPr b="0" i="0" strike="noStrike" sz="1600" u="none">
                  <a:solidFill>
                    <a:srgbClr val="E8E1D8"/>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57F75"/>
            </a:solidFill>
            <a:prstDash val="solid"/>
            <a:round/>
          </a:ln>
        </c:spPr>
        <c:txPr>
          <a:bodyPr/>
          <a:lstStyle/>
          <a:p>
            <a:pPr>
              <a:defRPr sz="1600" b="0" i="0" u="none" strike="noStrike">
                <a:solidFill>
                  <a:srgbClr val="E8E1D8"/>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241C16"/>
        </a:solidFill>
        <a:ln>
          <a:noFill/>
        </a:ln>
        <a:effectLst/>
      </c:spPr>
    </c:plotArea>
    <c:plotVisOnly val="1"/>
    <c:dispBlanksAs val="span"/>
  </c:chart>
  <c:spPr>
    <a:solidFill>
      <a:srgbClr val="241C1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c:pt>
              </c:strCache>
            </c:strRef>
          </c:tx>
          <c:spPr>
            <a:solidFill>
              <a:srgbClr val="D97B3E"/>
            </a:solidFill>
            <a:effectLst/>
          </c:spPr>
          <c:invertIfNegative val="0"/>
          <c:dLbls>
            <c:numFmt formatCode="#,##0" sourceLinked="0"/>
            <c:txPr>
              <a:bodyPr/>
              <a:lstStyle/>
              <a:p>
                <a:pPr>
                  <a:defRPr b="0" i="0" strike="noStrike" sz="1600" u="none">
                    <a:solidFill>
                      <a:srgbClr val="E8E1D8"/>
                    </a:solidFill>
                    <a:latin typeface="Arial"/>
                  </a:defRPr>
                </a:pPr>
              </a:p>
            </c:txPr>
            <c:showLegendKey val="0"/>
            <c:showVal val="1"/>
            <c:showCatName val="0"/>
            <c:showSerName val="0"/>
            <c:showPercent val="0"/>
            <c:showBubbleSize val="0"/>
            <c:showLeaderLines val="0"/>
          </c:dLbls>
          <c:dPt>
            <c:idx val="0"/>
            <c:invertIfNegative val="0"/>
            <c:bubble3D val="0"/>
            <c:spPr>
              <a:solidFill>
                <a:srgbClr val="D97B3E"/>
              </a:solidFill>
              <a:effectLst/>
            </c:spPr>
          </c:dPt>
          <c:dPt>
            <c:idx val="1"/>
            <c:invertIfNegative val="0"/>
            <c:bubble3D val="0"/>
            <c:spPr>
              <a:solidFill>
                <a:srgbClr val="857F75"/>
              </a:solidFill>
              <a:effectLst/>
            </c:spPr>
          </c:dPt>
          <c:dPt>
            <c:idx val="2"/>
            <c:invertIfNegative val="0"/>
            <c:bubble3D val="0"/>
            <c:spPr>
              <a:solidFill>
                <a:srgbClr val="857F75"/>
              </a:solidFill>
              <a:effectLst/>
            </c:spPr>
          </c:dPt>
          <c:dPt>
            <c:idx val="3"/>
            <c:invertIfNegative val="0"/>
            <c:bubble3D val="0"/>
            <c:spPr>
              <a:solidFill>
                <a:srgbClr val="857F75"/>
              </a:solidFill>
              <a:effectLst/>
            </c:spPr>
          </c:dPt>
          <c:cat>
            <c:multiLvlStrRef>
              <c:f>Sheet1!$A$2:$A$5</c:f>
              <c:multiLvlStrCache>
                <c:ptCount val="4"/>
                <c:lvl>
                  <c:pt idx="0">
                    <c:v>Zentrum</c:v>
                  </c:pt>
                  <c:pt idx="1">
                    <c:v>Ostend</c:v>
                  </c:pt>
                  <c:pt idx="2">
                    <c:v>Vorstadt</c:v>
                  </c:pt>
                  <c:pt idx="3">
                    <c:v>Ring</c:v>
                  </c:pt>
                </c:lvl>
              </c:multiLvlStrCache>
            </c:multiLvlStrRef>
          </c:cat>
          <c:val>
            <c:numRef>
              <c:f>Sheet1!$B$2:$B$5</c:f>
              <c:numCache>
                <c:formatCode>General</c:formatCode>
                <c:ptCount val="4"/>
                <c:pt idx="0">
                  <c:v>42</c:v>
                </c:pt>
                <c:pt idx="1">
                  <c:v>35</c:v>
                </c:pt>
                <c:pt idx="2">
                  <c:v>27</c:v>
                </c:pt>
                <c:pt idx="3">
                  <c:v>19</c:v>
                </c:pt>
              </c:numCache>
            </c:numRef>
          </c:val>
        </c:ser>
        <c:dLbls>
          <c:numFmt formatCode="#,##0" sourceLinked="0"/>
          <c:txPr>
            <a:bodyPr/>
            <a:lstStyle/>
            <a:p>
              <a:pPr>
                <a:defRPr b="0" i="0" strike="noStrike" sz="1600" u="none">
                  <a:solidFill>
                    <a:srgbClr val="E8E1D8"/>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57F75"/>
            </a:solidFill>
            <a:prstDash val="solid"/>
            <a:round/>
          </a:ln>
        </c:spPr>
        <c:txPr>
          <a:bodyPr/>
          <a:lstStyle/>
          <a:p>
            <a:pPr>
              <a:defRPr sz="1600" b="0" i="0" u="none" strike="noStrike">
                <a:solidFill>
                  <a:srgbClr val="E8E1D8"/>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241C16"/>
        </a:solidFill>
        <a:ln>
          <a:noFill/>
        </a:ln>
        <a:effectLst/>
      </c:spPr>
    </c:plotArea>
    <c:plotVisOnly val="1"/>
    <c:dispBlanksAs val="span"/>
  </c:chart>
  <c:spPr>
    <a:solidFill>
      <a:srgbClr val="241C1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Anlass benennen: Klimakonferenz der Stadt. Eine Zeile zum Thema: Warum Stadtbäume die Straßen kühlen, und warum wir 5.000 neue brauchen.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 aufbauen: Mittagshitze auf blanker Straße, kein Schatten, kein Grün. Überleitung: was, wenn hier Bäume stünden? Genau das zeigen die nächsten Folien: ein messbarer Effekt, keine Stimmung.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Beispielmessung, Mittagszeit im Hochsommer: Oberflächentemperatur unter Baumkronen gegen offene, unbeschattete Straße. Ausdrücklich als Beispielwert kennzeichnen, keine reale Messreihe dieser Stadt. Zwei Effekte stecken dahinter, dazu gleich mehr.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Straßentypen nach Kronendachdeckung: kahl, wenig, mittel, dicht bepflanzt (Beispielwerte, Mittagszeit Hochsommer). Je dichter das Kronendach, desto kühler die Oberfläche — daher der fokussierte Balken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physikalische Effekte, keine Metapher: (1) das Kronendach blockt einen Teil der Sonnenstrahlung, bevor sie den Asphalt erreicht; (2) Bäume verdunsten Wasser über die Blätter (Evapotranspiration) und entziehen der Umgebungsluft dabei Wärme, wie Schwitzen. Beides zusammen erklärt die 10 Grad von vorhin. Grafik ist ein Schema, keine reale Messgrafik, daher ohne Alt-Text-Pflicht wie ein Foto — Beschreibung hier in den Notizen: links ein Baum blockt Strahlung und verdunstet Wasser nach oben, rechts trifft die Sonne ungehindert auf die kahle Fläche.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Beispielrechnung, keine Studie dieser Stadt: an Hitzetagen mehr Notaufnahmen wegen Kreislaufproblemen, besonders bei älteren Menschen und kleinen Kindern. Kühlere Straßen sind auch ein Gesundheitsthema, nicht nur ein Komfortthema.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Vorschlag des Referenten, kein extern erhobener Wert: 2026 Priorisierung der heißesten Straßenzüge, ab 2027 erste Pflanzungen, 2028-29 Hauptphase mit dem Gros der 5.000 Bäume, 2030 Abschluss und Kontrolle des Anwuchserfolgs.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Beispielwerte je Stadtteil: Anzahl der Tage mit hoher Wärmebelastung pro Jahr. Priorisierung folgt der Belastung, nicht dem Zufall oder der Verfügbarkeit von Flächen — das am stärksten betroffene Zentrum zuerst (fokussierter Balken).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Beispielrechnung über die Lebensdauer eines Straßenbaums (Pflanzung, Pflege, ca. 25 Jahre) gegen die anteiligen Mehrkosten für Klimaanlagen und Kühlung in angrenzenden Gebäuden an Hitzetagen. Als Beispielrechnung kennzeichnen, keine Kostenstudie dieser Stadt.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Appell: Beschlussvorlage liegt vor, Zeitplan beginnt 2026 mit der Priorisierung. Bitte um Zustimmung des Stadtrats. Dank an das Publikum, Angebot für Rückfragen im Anschluss.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01 cover">
    <p:bg>
      <p:bgPr>
        <a:solidFill>
          <a:srgbClr val="241C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19200" y="3810000"/>
            <a:ext cx="8890000" cy="1524000"/>
          </a:xfrm>
          <a:prstGeom prst="rect">
            <a:avLst/>
          </a:prstGeom>
          <a:noFill/>
          <a:ln/>
        </p:spPr>
        <p:txBody>
          <a:bodyPr wrap="square" rtlCol="0"/>
          <a:lstStyle>
            <a:lvl1pPr algn="l" indent="0" marL="0">
              <a:buNone/>
              <a:defRPr lang="en-US" sz="5000" b="1" dirty="0">
                <a:solidFill>
                  <a:srgbClr val="E8E1D8"/>
                </a:solidFill>
                <a:latin typeface="Arial" pitchFamily="34" charset="0"/>
                <a:ea typeface="Arial" pitchFamily="34" charset="-122"/>
                <a:cs typeface="Arial" pitchFamily="34" charset="-120"/>
              </a:defRPr>
            </a:lvl1pPr>
          </a:lstStyle>
          <a:p>
            <a:pPr algn="l" indent="0" marL="0">
              <a:buNone/>
            </a:pPr>
            <a:endParaRPr lang="en-US" sz="5000" dirty="0"/>
          </a:p>
        </p:txBody>
      </p:sp>
      <p:sp>
        <p:nvSpPr>
          <p:cNvPr id="3" name="Text 0"/>
          <p:cNvSpPr/>
          <p:nvPr>
            <p:ph idx="101" type="body" hasCustomPrompt="1"/>
          </p:nvPr>
        </p:nvSpPr>
        <p:spPr>
          <a:xfrm>
            <a:off x="1219200" y="5461000"/>
            <a:ext cx="8890000" cy="508000"/>
          </a:xfrm>
          <a:prstGeom prst="rect">
            <a:avLst/>
          </a:prstGeom>
          <a:noFill/>
          <a:ln/>
        </p:spPr>
        <p:txBody>
          <a:bodyPr wrap="square" rtlCol="0"/>
          <a:lstStyle>
            <a:lvl1pPr algn="l" indent="0" marL="0">
              <a:buNone/>
              <a:defRPr lang="en-US" sz="2400" dirty="0">
                <a:solidFill>
                  <a:srgbClr val="E8E1D8"/>
                </a:solidFill>
                <a:latin typeface="Arial" pitchFamily="34" charset="0"/>
                <a:ea typeface="Arial" pitchFamily="34" charset="-122"/>
                <a:cs typeface="Arial" pitchFamily="34" charset="-120"/>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05 chart-focus">
    <p:bg>
      <p:bgPr>
        <a:solidFill>
          <a:srgbClr val="241C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lstStyle>
            <a:lvl1pPr algn="l" indent="0" marL="0">
              <a:buNone/>
              <a:defRPr lang="en-US" sz="4000" b="1" dirty="0">
                <a:solidFill>
                  <a:srgbClr val="E8E1D8"/>
                </a:solidFill>
                <a:latin typeface="Arial" pitchFamily="34" charset="0"/>
                <a:ea typeface="Arial" pitchFamily="34" charset="-122"/>
                <a:cs typeface="Arial" pitchFamily="34" charset="-120"/>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11 timeline">
    <p:bg>
      <p:bgPr>
        <a:solidFill>
          <a:srgbClr val="241C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lstStyle>
            <a:lvl1pPr algn="l" indent="0" marL="0">
              <a:buNone/>
              <a:defRPr lang="en-US" sz="4000" b="1" dirty="0">
                <a:solidFill>
                  <a:srgbClr val="E8E1D8"/>
                </a:solidFill>
                <a:latin typeface="Arial" pitchFamily="34" charset="0"/>
                <a:ea typeface="Arial" pitchFamily="34" charset="-122"/>
                <a:cs typeface="Arial" pitchFamily="34" charset="-120"/>
              </a:defRPr>
            </a:lvl1pPr>
          </a:lstStyle>
          <a:p>
            <a:pPr algn="l" indent="0" marL="0">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13 key-numbers">
    <p:bg>
      <p:bgPr>
        <a:solidFill>
          <a:srgbClr val="241C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lstStyle>
            <a:lvl1pPr algn="l" indent="0" marL="0">
              <a:buNone/>
              <a:defRPr lang="en-US" sz="4000" b="1" dirty="0">
                <a:solidFill>
                  <a:srgbClr val="E8E1D8"/>
                </a:solidFill>
                <a:latin typeface="Arial" pitchFamily="34" charset="0"/>
                <a:ea typeface="Arial" pitchFamily="34" charset="-122"/>
                <a:cs typeface="Arial" pitchFamily="34" charset="-120"/>
              </a:defRPr>
            </a:lvl1pPr>
          </a:lstStyle>
          <a:p>
            <a:pPr algn="l" indent="0" marL="0">
              <a:buNone/>
            </a:pPr>
            <a:endParaRPr lang="en-US" sz="4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14 statement">
    <p:bg>
      <p:bgPr>
        <a:solidFill>
          <a:srgbClr val="241C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19200" y="4089400"/>
            <a:ext cx="9753600" cy="2133600"/>
          </a:xfrm>
          <a:prstGeom prst="rect">
            <a:avLst/>
          </a:prstGeom>
          <a:noFill/>
          <a:ln/>
        </p:spPr>
        <p:txBody>
          <a:bodyPr wrap="square" rtlCol="0"/>
          <a:lstStyle>
            <a:lvl1pPr algn="l" indent="0" marL="0">
              <a:buNone/>
              <a:defRPr lang="en-US" sz="5000" b="1" dirty="0">
                <a:solidFill>
                  <a:srgbClr val="E8E1D8"/>
                </a:solidFill>
                <a:latin typeface="Arial" pitchFamily="34" charset="0"/>
                <a:ea typeface="Arial" pitchFamily="34" charset="-122"/>
                <a:cs typeface="Arial" pitchFamily="34" charset="-120"/>
              </a:defRPr>
            </a:lvl1pPr>
          </a:lstStyle>
          <a:p>
            <a:pPr algn="l" indent="0" marL="0">
              <a:buNone/>
            </a:pPr>
            <a:endParaRPr lang="en-US" sz="5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1219200" y="3810000"/>
            <a:ext cx="8890000" cy="1524000"/>
          </a:xfrm>
          <a:prstGeom prst="rect">
            <a:avLst/>
          </a:prstGeom>
          <a:noFill/>
          <a:ln/>
        </p:spPr>
        <p:txBody>
          <a:bodyPr wrap="square" rtlCol="0" anchor="b"/>
          <a:lstStyle/>
          <a:p>
            <a:pPr algn="l" indent="0" marL="0">
              <a:buNone/>
            </a:pPr>
            <a:r>
              <a:rPr lang="en-US" sz="5000" b="1" dirty="0">
                <a:solidFill>
                  <a:srgbClr val="E8E1D8"/>
                </a:solidFill>
                <a:latin typeface="Arial" pitchFamily="34" charset="0"/>
                <a:ea typeface="Arial" pitchFamily="34" charset="-122"/>
                <a:cs typeface="Arial" pitchFamily="34" charset="-120"/>
              </a:rPr>
              <a:t>5.000 neue Bäume für kühlere Straßen</a:t>
            </a:r>
            <a:endParaRPr lang="en-US" sz="5000" dirty="0"/>
          </a:p>
        </p:txBody>
      </p:sp>
      <p:sp>
        <p:nvSpPr>
          <p:cNvPr id="3" name="Text 0"/>
          <p:cNvSpPr/>
          <p:nvPr>
            <p:ph idx="101" type="body" hasCustomPrompt="1"/>
          </p:nvPr>
        </p:nvSpPr>
        <p:spPr>
          <a:xfrm>
            <a:off x="1219200" y="5461000"/>
            <a:ext cx="8890000" cy="508000"/>
          </a:xfrm>
          <a:prstGeom prst="rect">
            <a:avLst/>
          </a:prstGeom>
          <a:noFill/>
          <a:ln/>
        </p:spPr>
        <p:txBody>
          <a:bodyPr wrap="square" rtlCol="0" anchor="t"/>
          <a:lstStyle/>
          <a:p>
            <a:pPr algn="l" indent="0" marL="0">
              <a:buNone/>
            </a:pPr>
            <a:r>
              <a:rPr lang="en-US" sz="2400" dirty="0">
                <a:solidFill>
                  <a:srgbClr val="E8E1D8"/>
                </a:solidFill>
                <a:latin typeface="Arial" pitchFamily="34" charset="0"/>
                <a:ea typeface="Arial" pitchFamily="34" charset="-122"/>
                <a:cs typeface="Arial" pitchFamily="34" charset="-120"/>
              </a:rPr>
              <a:t>Klimakonferenz der Stadt · Vorschlag für 2026–2030</a:t>
            </a:r>
            <a:endParaRPr lang="en-US" sz="2400" dirty="0"/>
          </a:p>
        </p:txBody>
      </p:sp>
      <p:sp>
        <p:nvSpPr>
          <p:cNvPr id="4" name="Shape 2"/>
          <p:cNvSpPr/>
          <p:nvPr/>
        </p:nvSpPr>
        <p:spPr>
          <a:xfrm>
            <a:off x="1219200" y="6070600"/>
            <a:ext cx="1524000" cy="38100"/>
          </a:xfrm>
          <a:prstGeom prst="rect">
            <a:avLst/>
          </a:prstGeom>
          <a:solidFill>
            <a:srgbClr val="D97B3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219200" y="4089400"/>
            <a:ext cx="9753600" cy="2133600"/>
          </a:xfrm>
          <a:prstGeom prst="rect">
            <a:avLst/>
          </a:prstGeom>
          <a:noFill/>
          <a:ln/>
        </p:spPr>
        <p:txBody>
          <a:bodyPr wrap="square" rtlCol="0" anchor="t"/>
          <a:lstStyle/>
          <a:p>
            <a:pPr algn="l" indent="0" marL="0">
              <a:buNone/>
            </a:pPr>
            <a:r>
              <a:rPr lang="en-US" sz="5000" b="1" dirty="0">
                <a:solidFill>
                  <a:srgbClr val="E8E1D8"/>
                </a:solidFill>
                <a:latin typeface="Arial" pitchFamily="34" charset="0"/>
                <a:ea typeface="Arial" pitchFamily="34" charset="-122"/>
                <a:cs typeface="Arial" pitchFamily="34" charset="-120"/>
              </a:rPr>
              <a:t>Asphalt ohne Bäume heizt unsere Straßen auf</a:t>
            </a:r>
            <a:endParaRPr lang="en-US" sz="5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nchor="t"/>
          <a:lstStyle/>
          <a:p>
            <a:pPr algn="l" indent="0" marL="0">
              <a:buNone/>
            </a:pPr>
            <a:r>
              <a:rPr lang="en-US" sz="4000" b="1" dirty="0">
                <a:solidFill>
                  <a:srgbClr val="E8E1D8"/>
                </a:solidFill>
                <a:latin typeface="Arial" pitchFamily="34" charset="0"/>
                <a:ea typeface="Arial" pitchFamily="34" charset="-122"/>
                <a:cs typeface="Arial" pitchFamily="34" charset="-120"/>
              </a:rPr>
              <a:t>Baumkronen kühlen die Straße um 10 Grad</a:t>
            </a:r>
            <a:endParaRPr lang="en-US" sz="4000" dirty="0"/>
          </a:p>
        </p:txBody>
      </p:sp>
      <p:sp>
        <p:nvSpPr>
          <p:cNvPr id="3" name="Text 1"/>
          <p:cNvSpPr txBox="1"/>
          <p:nvPr/>
        </p:nvSpPr>
        <p:spPr>
          <a:xfrm>
            <a:off x="609600" y="2235200"/>
            <a:ext cx="4453446" cy="2159000"/>
          </a:xfrm>
          <a:prstGeom prst="rect">
            <a:avLst/>
          </a:prstGeom>
          <a:noFill/>
          <a:ln/>
        </p:spPr>
        <p:txBody>
          <a:bodyPr wrap="square" rtlCol="0" anchor="t"/>
          <a:lstStyle/>
          <a:p>
            <a:pPr algn="l" indent="0" marL="0">
              <a:buNone/>
            </a:pPr>
            <a:r>
              <a:rPr lang="en-US" sz="9600" b="1" dirty="0">
                <a:solidFill>
                  <a:srgbClr val="D97B3E"/>
                </a:solidFill>
                <a:latin typeface="Arial" pitchFamily="34" charset="0"/>
                <a:ea typeface="Arial" pitchFamily="34" charset="-122"/>
                <a:cs typeface="Arial" pitchFamily="34" charset="-120"/>
              </a:rPr>
              <a:t>10 °C</a:t>
            </a:r>
            <a:endParaRPr lang="en-US" sz="9600" dirty="0"/>
          </a:p>
        </p:txBody>
      </p:sp>
      <p:sp>
        <p:nvSpPr>
          <p:cNvPr id="4" name="Text 2"/>
          <p:cNvSpPr txBox="1"/>
          <p:nvPr/>
        </p:nvSpPr>
        <p:spPr>
          <a:xfrm>
            <a:off x="6197575" y="2997200"/>
            <a:ext cx="5384775" cy="1778000"/>
          </a:xfrm>
          <a:prstGeom prst="rect">
            <a:avLst/>
          </a:prstGeom>
          <a:noFill/>
          <a:ln/>
        </p:spPr>
        <p:txBody>
          <a:bodyPr wrap="square" rtlCol="0" anchor="t"/>
          <a:lstStyle/>
          <a:p>
            <a:pPr algn="l" indent="0" marL="0">
              <a:buNone/>
            </a:pPr>
            <a:r>
              <a:rPr lang="en-US" sz="2400" dirty="0">
                <a:solidFill>
                  <a:srgbClr val="E8E1D8"/>
                </a:solidFill>
                <a:latin typeface="Arial" pitchFamily="34" charset="0"/>
                <a:ea typeface="Arial" pitchFamily="34" charset="-122"/>
                <a:cs typeface="Arial" pitchFamily="34" charset="-120"/>
              </a:rPr>
              <a:t>Unterschied Oberfläche: beschattet – offen</a:t>
            </a:r>
            <a:endParaRPr lang="en-US" sz="2400" dirty="0"/>
          </a:p>
        </p:txBody>
      </p:sp>
      <p:sp>
        <p:nvSpPr>
          <p:cNvPr id="5" name="Text 3"/>
          <p:cNvSpPr txBox="1"/>
          <p:nvPr/>
        </p:nvSpPr>
        <p:spPr>
          <a:xfrm>
            <a:off x="609600" y="5918200"/>
            <a:ext cx="8890000" cy="457200"/>
          </a:xfrm>
          <a:prstGeom prst="rect">
            <a:avLst/>
          </a:prstGeom>
          <a:noFill/>
          <a:ln/>
        </p:spPr>
        <p:txBody>
          <a:bodyPr wrap="square" rtlCol="0" anchor="t"/>
          <a:lstStyle/>
          <a:p>
            <a:pPr algn="l" indent="0" marL="0">
              <a:buNone/>
            </a:pPr>
            <a:r>
              <a:rPr lang="en-US" sz="1200" dirty="0">
                <a:solidFill>
                  <a:srgbClr val="E8E1D8"/>
                </a:solidFill>
                <a:latin typeface="Arial" pitchFamily="34" charset="0"/>
                <a:ea typeface="Arial" pitchFamily="34" charset="-122"/>
                <a:cs typeface="Arial" pitchFamily="34" charset="-120"/>
              </a:rPr>
              <a:t>Quelle: Beispieldaten zur Illustration, nicht real erhoben ·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nchor="t"/>
          <a:lstStyle/>
          <a:p>
            <a:pPr algn="l" indent="0" marL="0">
              <a:buNone/>
            </a:pPr>
            <a:r>
              <a:rPr lang="en-US" sz="4000" b="1" dirty="0">
                <a:solidFill>
                  <a:srgbClr val="E8E1D8"/>
                </a:solidFill>
                <a:latin typeface="Arial" pitchFamily="34" charset="0"/>
                <a:ea typeface="Arial" pitchFamily="34" charset="-122"/>
                <a:cs typeface="Arial" pitchFamily="34" charset="-120"/>
              </a:rPr>
              <a:t>Beschattete Straßen bleiben deutlich kühler</a:t>
            </a:r>
            <a:endParaRPr lang="en-US" sz="4000" dirty="0"/>
          </a:p>
        </p:txBody>
      </p:sp>
      <p:graphicFrame>
        <p:nvGraphicFramePr>
          <p:cNvPr id="3" name="Chart 0" descr="Balkendiagramm: Beschattete Straßen bleiben deutlich kühler. Werte: kahl 38°, wenig 34°, mittel 31°, dicht 28°. Oberflächentemperatur, °C"/>
          <p:cNvGraphicFramePr/>
          <p:nvPr/>
        </p:nvGraphicFramePr>
        <p:xfrm>
          <a:off x="609600" y="2108200"/>
          <a:ext cx="10972749" cy="330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9600" y="5918200"/>
            <a:ext cx="8890000" cy="457200"/>
          </a:xfrm>
          <a:prstGeom prst="rect">
            <a:avLst/>
          </a:prstGeom>
          <a:noFill/>
          <a:ln/>
        </p:spPr>
        <p:txBody>
          <a:bodyPr wrap="square" rtlCol="0" anchor="t"/>
          <a:lstStyle/>
          <a:p>
            <a:pPr algn="l" indent="0" marL="0">
              <a:buNone/>
            </a:pPr>
            <a:r>
              <a:rPr lang="en-US" sz="1200" dirty="0">
                <a:solidFill>
                  <a:srgbClr val="E8E1D8"/>
                </a:solidFill>
                <a:latin typeface="Arial" pitchFamily="34" charset="0"/>
                <a:ea typeface="Arial" pitchFamily="34" charset="-122"/>
                <a:cs typeface="Arial" pitchFamily="34" charset="-120"/>
              </a:rPr>
              <a:t>Quelle: Beispieldaten (Oberflächentemperatur, °C), nicht real erhoben · 2026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219200" y="4089400"/>
            <a:ext cx="9753600" cy="2133600"/>
          </a:xfrm>
          <a:prstGeom prst="rect">
            <a:avLst/>
          </a:prstGeom>
          <a:noFill/>
          <a:ln/>
        </p:spPr>
        <p:txBody>
          <a:bodyPr wrap="square" rtlCol="0" anchor="t"/>
          <a:lstStyle/>
          <a:p>
            <a:pPr algn="l" indent="0" marL="0">
              <a:buNone/>
            </a:pPr>
            <a:r>
              <a:rPr lang="en-US" sz="5000" b="1" dirty="0">
                <a:solidFill>
                  <a:srgbClr val="E8E1D8"/>
                </a:solidFill>
                <a:latin typeface="Arial" pitchFamily="34" charset="0"/>
                <a:ea typeface="Arial" pitchFamily="34" charset="-122"/>
                <a:cs typeface="Arial" pitchFamily="34" charset="-120"/>
              </a:rPr>
              <a:t>Schatten und Verdunstung kühlen die Luft</a:t>
            </a:r>
            <a:endParaRPr lang="en-US" sz="5000" dirty="0"/>
          </a:p>
        </p:txBody>
      </p:sp>
      <p:sp>
        <p:nvSpPr>
          <p:cNvPr id="3" name="Shape 1"/>
          <p:cNvSpPr/>
          <p:nvPr/>
        </p:nvSpPr>
        <p:spPr>
          <a:xfrm>
            <a:off x="1219200" y="3175000"/>
            <a:ext cx="9753600" cy="0"/>
          </a:xfrm>
          <a:prstGeom prst="line">
            <a:avLst/>
          </a:prstGeom>
          <a:noFill/>
          <a:ln w="25400">
            <a:solidFill>
              <a:srgbClr val="857F75"/>
            </a:solidFill>
            <a:prstDash val="solid"/>
          </a:ln>
        </p:spPr>
      </p:sp>
      <p:sp>
        <p:nvSpPr>
          <p:cNvPr id="4" name="Shape 2"/>
          <p:cNvSpPr/>
          <p:nvPr/>
        </p:nvSpPr>
        <p:spPr>
          <a:xfrm>
            <a:off x="3061208" y="1524000"/>
            <a:ext cx="1778000" cy="1016000"/>
          </a:xfrm>
          <a:prstGeom prst="ellipse">
            <a:avLst/>
          </a:prstGeom>
          <a:solidFill>
            <a:srgbClr val="3B6E8C"/>
          </a:solidFill>
          <a:ln/>
        </p:spPr>
      </p:sp>
      <p:sp>
        <p:nvSpPr>
          <p:cNvPr id="5" name="Shape 3"/>
          <p:cNvSpPr/>
          <p:nvPr/>
        </p:nvSpPr>
        <p:spPr>
          <a:xfrm>
            <a:off x="3874008" y="2476500"/>
            <a:ext cx="152400" cy="698500"/>
          </a:xfrm>
          <a:prstGeom prst="rect">
            <a:avLst/>
          </a:prstGeom>
          <a:solidFill>
            <a:srgbClr val="857F75"/>
          </a:solidFill>
          <a:ln/>
        </p:spPr>
      </p:sp>
      <p:sp>
        <p:nvSpPr>
          <p:cNvPr id="6" name="Shape 4"/>
          <p:cNvSpPr/>
          <p:nvPr/>
        </p:nvSpPr>
        <p:spPr>
          <a:xfrm rot="-5400000">
            <a:off x="3848608" y="889000"/>
            <a:ext cx="203200" cy="508000"/>
          </a:xfrm>
          <a:prstGeom prst="rightArrow">
            <a:avLst/>
          </a:prstGeom>
          <a:solidFill>
            <a:srgbClr val="3B6E8C"/>
          </a:solidFill>
          <a:ln/>
        </p:spPr>
      </p:sp>
      <p:sp>
        <p:nvSpPr>
          <p:cNvPr id="7" name="Shape 5"/>
          <p:cNvSpPr/>
          <p:nvPr/>
        </p:nvSpPr>
        <p:spPr>
          <a:xfrm>
            <a:off x="3569208" y="762000"/>
            <a:ext cx="-203200" cy="762000"/>
          </a:xfrm>
          <a:prstGeom prst="line">
            <a:avLst/>
          </a:prstGeom>
          <a:noFill/>
          <a:ln w="25400">
            <a:solidFill>
              <a:srgbClr val="C0442B"/>
            </a:solidFill>
            <a:prstDash val="dash"/>
          </a:ln>
        </p:spPr>
      </p:sp>
      <p:sp>
        <p:nvSpPr>
          <p:cNvPr id="8" name="Shape 6"/>
          <p:cNvSpPr/>
          <p:nvPr/>
        </p:nvSpPr>
        <p:spPr>
          <a:xfrm>
            <a:off x="9321800" y="762000"/>
            <a:ext cx="-279400" cy="2413000"/>
          </a:xfrm>
          <a:prstGeom prst="line">
            <a:avLst/>
          </a:prstGeom>
          <a:noFill/>
          <a:ln w="25400">
            <a:solidFill>
              <a:srgbClr val="C0442B"/>
            </a:solidFill>
            <a:prstDash val="dash"/>
          </a:ln>
        </p:spPr>
      </p:sp>
      <p:sp>
        <p:nvSpPr>
          <p:cNvPr id="9" name="Shape 7"/>
          <p:cNvSpPr/>
          <p:nvPr/>
        </p:nvSpPr>
        <p:spPr>
          <a:xfrm>
            <a:off x="9829800" y="762000"/>
            <a:ext cx="-279400" cy="2413000"/>
          </a:xfrm>
          <a:prstGeom prst="line">
            <a:avLst/>
          </a:prstGeom>
          <a:noFill/>
          <a:ln w="25400">
            <a:solidFill>
              <a:srgbClr val="C0442B"/>
            </a:solidFill>
            <a:prstDash val="dash"/>
          </a:ln>
        </p:spPr>
      </p:sp>
      <p:sp>
        <p:nvSpPr>
          <p:cNvPr id="10" name="Shape 8"/>
          <p:cNvSpPr/>
          <p:nvPr/>
        </p:nvSpPr>
        <p:spPr>
          <a:xfrm>
            <a:off x="10337800" y="762000"/>
            <a:ext cx="-279400" cy="2413000"/>
          </a:xfrm>
          <a:prstGeom prst="line">
            <a:avLst/>
          </a:prstGeom>
          <a:noFill/>
          <a:ln w="25400">
            <a:solidFill>
              <a:srgbClr val="C0442B"/>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nchor="t"/>
          <a:lstStyle/>
          <a:p>
            <a:pPr algn="l" indent="0" marL="0">
              <a:buNone/>
            </a:pPr>
            <a:r>
              <a:rPr lang="en-US" sz="4000" b="1" dirty="0">
                <a:solidFill>
                  <a:srgbClr val="E8E1D8"/>
                </a:solidFill>
                <a:latin typeface="Arial" pitchFamily="34" charset="0"/>
                <a:ea typeface="Arial" pitchFamily="34" charset="-122"/>
                <a:cs typeface="Arial" pitchFamily="34" charset="-120"/>
              </a:rPr>
              <a:t>Hitzetage erhöhen Notaufnahmen um ein Drittel</a:t>
            </a:r>
            <a:endParaRPr lang="en-US" sz="4000" dirty="0"/>
          </a:p>
        </p:txBody>
      </p:sp>
      <p:sp>
        <p:nvSpPr>
          <p:cNvPr id="3" name="Text 1"/>
          <p:cNvSpPr txBox="1"/>
          <p:nvPr/>
        </p:nvSpPr>
        <p:spPr>
          <a:xfrm>
            <a:off x="609600" y="2235200"/>
            <a:ext cx="4453446" cy="2159000"/>
          </a:xfrm>
          <a:prstGeom prst="rect">
            <a:avLst/>
          </a:prstGeom>
          <a:noFill/>
          <a:ln/>
        </p:spPr>
        <p:txBody>
          <a:bodyPr wrap="square" rtlCol="0" anchor="t"/>
          <a:lstStyle/>
          <a:p>
            <a:pPr algn="l" indent="0" marL="0">
              <a:buNone/>
            </a:pPr>
            <a:r>
              <a:rPr lang="en-US" sz="9600" b="1" dirty="0">
                <a:solidFill>
                  <a:srgbClr val="D97B3E"/>
                </a:solidFill>
                <a:latin typeface="Arial" pitchFamily="34" charset="0"/>
                <a:ea typeface="Arial" pitchFamily="34" charset="-122"/>
                <a:cs typeface="Arial" pitchFamily="34" charset="-120"/>
              </a:rPr>
              <a:t>+33 %</a:t>
            </a:r>
            <a:endParaRPr lang="en-US" sz="9600" dirty="0"/>
          </a:p>
        </p:txBody>
      </p:sp>
      <p:sp>
        <p:nvSpPr>
          <p:cNvPr id="4" name="Text 2"/>
          <p:cNvSpPr txBox="1"/>
          <p:nvPr/>
        </p:nvSpPr>
        <p:spPr>
          <a:xfrm>
            <a:off x="6197575" y="2997200"/>
            <a:ext cx="5384775" cy="1778000"/>
          </a:xfrm>
          <a:prstGeom prst="rect">
            <a:avLst/>
          </a:prstGeom>
          <a:noFill/>
          <a:ln/>
        </p:spPr>
        <p:txBody>
          <a:bodyPr wrap="square" rtlCol="0" anchor="t"/>
          <a:lstStyle/>
          <a:p>
            <a:pPr algn="l" indent="0" marL="0">
              <a:buNone/>
            </a:pPr>
            <a:r>
              <a:rPr lang="en-US" sz="2400" dirty="0">
                <a:solidFill>
                  <a:srgbClr val="E8E1D8"/>
                </a:solidFill>
                <a:latin typeface="Arial" pitchFamily="34" charset="0"/>
                <a:ea typeface="Arial" pitchFamily="34" charset="-122"/>
                <a:cs typeface="Arial" pitchFamily="34" charset="-120"/>
              </a:rPr>
              <a:t>Hitzetage vs. milde Tage</a:t>
            </a:r>
            <a:endParaRPr lang="en-US" sz="2400" dirty="0"/>
          </a:p>
        </p:txBody>
      </p:sp>
      <p:sp>
        <p:nvSpPr>
          <p:cNvPr id="5" name="Text 3"/>
          <p:cNvSpPr txBox="1"/>
          <p:nvPr/>
        </p:nvSpPr>
        <p:spPr>
          <a:xfrm>
            <a:off x="609600" y="5918200"/>
            <a:ext cx="8890000" cy="457200"/>
          </a:xfrm>
          <a:prstGeom prst="rect">
            <a:avLst/>
          </a:prstGeom>
          <a:noFill/>
          <a:ln/>
        </p:spPr>
        <p:txBody>
          <a:bodyPr wrap="square" rtlCol="0" anchor="t"/>
          <a:lstStyle/>
          <a:p>
            <a:pPr algn="l" indent="0" marL="0">
              <a:buNone/>
            </a:pPr>
            <a:r>
              <a:rPr lang="en-US" sz="1200" dirty="0">
                <a:solidFill>
                  <a:srgbClr val="E8E1D8"/>
                </a:solidFill>
                <a:latin typeface="Arial" pitchFamily="34" charset="0"/>
                <a:ea typeface="Arial" pitchFamily="34" charset="-122"/>
                <a:cs typeface="Arial" pitchFamily="34" charset="-120"/>
              </a:rPr>
              <a:t>Quelle: Beispieldaten zur Illustration, nicht real erhoben · 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nchor="t"/>
          <a:lstStyle/>
          <a:p>
            <a:pPr algn="l" indent="0" marL="0">
              <a:buNone/>
            </a:pPr>
            <a:r>
              <a:rPr lang="en-US" sz="4000" b="1" dirty="0">
                <a:solidFill>
                  <a:srgbClr val="E8E1D8"/>
                </a:solidFill>
                <a:latin typeface="Arial" pitchFamily="34" charset="0"/>
                <a:ea typeface="Arial" pitchFamily="34" charset="-122"/>
                <a:cs typeface="Arial" pitchFamily="34" charset="-120"/>
              </a:rPr>
              <a:t>5.000 Bäume entstehen in vier Bauphasen</a:t>
            </a:r>
            <a:endParaRPr lang="en-US" sz="4000" dirty="0"/>
          </a:p>
        </p:txBody>
      </p:sp>
      <p:sp>
        <p:nvSpPr>
          <p:cNvPr id="3" name="Shape 1"/>
          <p:cNvSpPr/>
          <p:nvPr/>
        </p:nvSpPr>
        <p:spPr>
          <a:xfrm>
            <a:off x="609600" y="2743200"/>
            <a:ext cx="10972800" cy="0"/>
          </a:xfrm>
          <a:prstGeom prst="line">
            <a:avLst/>
          </a:prstGeom>
          <a:noFill/>
          <a:ln w="19050">
            <a:solidFill>
              <a:srgbClr val="857F75"/>
            </a:solidFill>
            <a:prstDash val="solid"/>
          </a:ln>
        </p:spPr>
      </p:sp>
      <p:sp>
        <p:nvSpPr>
          <p:cNvPr id="4" name="Shape 2"/>
          <p:cNvSpPr/>
          <p:nvPr/>
        </p:nvSpPr>
        <p:spPr>
          <a:xfrm>
            <a:off x="622300" y="2667000"/>
            <a:ext cx="152400" cy="152400"/>
          </a:xfrm>
          <a:prstGeom prst="ellipse">
            <a:avLst/>
          </a:prstGeom>
          <a:solidFill>
            <a:srgbClr val="857F75"/>
          </a:solidFill>
          <a:ln/>
        </p:spPr>
      </p:sp>
      <p:sp>
        <p:nvSpPr>
          <p:cNvPr id="5" name="Text 3"/>
          <p:cNvSpPr txBox="1"/>
          <p:nvPr/>
        </p:nvSpPr>
        <p:spPr>
          <a:xfrm>
            <a:off x="698500" y="2946400"/>
            <a:ext cx="1524000" cy="330200"/>
          </a:xfrm>
          <a:prstGeom prst="rect">
            <a:avLst/>
          </a:prstGeom>
          <a:noFill/>
          <a:ln/>
        </p:spPr>
        <p:txBody>
          <a:bodyPr wrap="square" rtlCol="0" anchor="ctr"/>
          <a:lstStyle/>
          <a:p>
            <a:pPr algn="l" indent="0" marL="0">
              <a:buNone/>
            </a:pPr>
            <a:r>
              <a:rPr lang="en-US" sz="1600" dirty="0">
                <a:solidFill>
                  <a:srgbClr val="E8E1D8"/>
                </a:solidFill>
                <a:latin typeface="Arial" pitchFamily="34" charset="0"/>
                <a:ea typeface="Arial" pitchFamily="34" charset="-122"/>
                <a:cs typeface="Arial" pitchFamily="34" charset="-120"/>
              </a:rPr>
              <a:t>2026</a:t>
            </a:r>
            <a:endParaRPr lang="en-US" sz="1600" dirty="0"/>
          </a:p>
        </p:txBody>
      </p:sp>
      <p:sp>
        <p:nvSpPr>
          <p:cNvPr id="6" name="Text 4"/>
          <p:cNvSpPr txBox="1"/>
          <p:nvPr/>
        </p:nvSpPr>
        <p:spPr>
          <a:xfrm>
            <a:off x="698500" y="3302000"/>
            <a:ext cx="1524000" cy="508000"/>
          </a:xfrm>
          <a:prstGeom prst="rect">
            <a:avLst/>
          </a:prstGeom>
          <a:noFill/>
          <a:ln/>
        </p:spPr>
        <p:txBody>
          <a:bodyPr wrap="square" rtlCol="0" anchor="ctr"/>
          <a:lstStyle/>
          <a:p>
            <a:pPr algn="l" indent="0" marL="0">
              <a:buNone/>
            </a:pPr>
            <a:r>
              <a:rPr lang="en-US" sz="1600" dirty="0">
                <a:solidFill>
                  <a:srgbClr val="E8E1D8"/>
                </a:solidFill>
                <a:latin typeface="Arial" pitchFamily="34" charset="0"/>
                <a:ea typeface="Arial" pitchFamily="34" charset="-122"/>
                <a:cs typeface="Arial" pitchFamily="34" charset="-120"/>
              </a:rPr>
              <a:t>Priorität</a:t>
            </a:r>
            <a:endParaRPr lang="en-US" sz="1600" dirty="0"/>
          </a:p>
        </p:txBody>
      </p:sp>
      <p:sp>
        <p:nvSpPr>
          <p:cNvPr id="7" name="Shape 5"/>
          <p:cNvSpPr/>
          <p:nvPr/>
        </p:nvSpPr>
        <p:spPr>
          <a:xfrm>
            <a:off x="4220633" y="2667000"/>
            <a:ext cx="152400" cy="152400"/>
          </a:xfrm>
          <a:prstGeom prst="ellipse">
            <a:avLst/>
          </a:prstGeom>
          <a:solidFill>
            <a:srgbClr val="857F75"/>
          </a:solidFill>
          <a:ln/>
        </p:spPr>
      </p:sp>
      <p:sp>
        <p:nvSpPr>
          <p:cNvPr id="8" name="Text 6"/>
          <p:cNvSpPr txBox="1"/>
          <p:nvPr/>
        </p:nvSpPr>
        <p:spPr>
          <a:xfrm>
            <a:off x="3534833" y="2946400"/>
            <a:ext cx="1524000" cy="330200"/>
          </a:xfrm>
          <a:prstGeom prst="rect">
            <a:avLst/>
          </a:prstGeom>
          <a:noFill/>
          <a:ln/>
        </p:spPr>
        <p:txBody>
          <a:bodyPr wrap="square" rtlCol="0" anchor="ctr"/>
          <a:lstStyle/>
          <a:p>
            <a:pPr algn="ctr" indent="0" marL="0">
              <a:buNone/>
            </a:pPr>
            <a:r>
              <a:rPr lang="en-US" sz="1600" dirty="0">
                <a:solidFill>
                  <a:srgbClr val="E8E1D8"/>
                </a:solidFill>
                <a:latin typeface="Arial" pitchFamily="34" charset="0"/>
                <a:ea typeface="Arial" pitchFamily="34" charset="-122"/>
                <a:cs typeface="Arial" pitchFamily="34" charset="-120"/>
              </a:rPr>
              <a:t>2027</a:t>
            </a:r>
            <a:endParaRPr lang="en-US" sz="1600" dirty="0"/>
          </a:p>
        </p:txBody>
      </p:sp>
      <p:sp>
        <p:nvSpPr>
          <p:cNvPr id="9" name="Text 7"/>
          <p:cNvSpPr txBox="1"/>
          <p:nvPr/>
        </p:nvSpPr>
        <p:spPr>
          <a:xfrm>
            <a:off x="3534833" y="3302000"/>
            <a:ext cx="1524000" cy="508000"/>
          </a:xfrm>
          <a:prstGeom prst="rect">
            <a:avLst/>
          </a:prstGeom>
          <a:noFill/>
          <a:ln/>
        </p:spPr>
        <p:txBody>
          <a:bodyPr wrap="square" rtlCol="0" anchor="ctr"/>
          <a:lstStyle/>
          <a:p>
            <a:pPr algn="ctr" indent="0" marL="0">
              <a:buNone/>
            </a:pPr>
            <a:r>
              <a:rPr lang="en-US" sz="1600" dirty="0">
                <a:solidFill>
                  <a:srgbClr val="E8E1D8"/>
                </a:solidFill>
                <a:latin typeface="Arial" pitchFamily="34" charset="0"/>
                <a:ea typeface="Arial" pitchFamily="34" charset="-122"/>
                <a:cs typeface="Arial" pitchFamily="34" charset="-120"/>
              </a:rPr>
              <a:t>Pflanzung</a:t>
            </a:r>
            <a:endParaRPr lang="en-US" sz="1600" dirty="0"/>
          </a:p>
        </p:txBody>
      </p:sp>
      <p:sp>
        <p:nvSpPr>
          <p:cNvPr id="10" name="Shape 8"/>
          <p:cNvSpPr/>
          <p:nvPr/>
        </p:nvSpPr>
        <p:spPr>
          <a:xfrm>
            <a:off x="7818967" y="2667000"/>
            <a:ext cx="152400" cy="152400"/>
          </a:xfrm>
          <a:prstGeom prst="ellipse">
            <a:avLst/>
          </a:prstGeom>
          <a:solidFill>
            <a:srgbClr val="857F75"/>
          </a:solidFill>
          <a:ln/>
        </p:spPr>
      </p:sp>
      <p:sp>
        <p:nvSpPr>
          <p:cNvPr id="11" name="Text 9"/>
          <p:cNvSpPr txBox="1"/>
          <p:nvPr/>
        </p:nvSpPr>
        <p:spPr>
          <a:xfrm>
            <a:off x="7133167" y="2946400"/>
            <a:ext cx="1524000" cy="330200"/>
          </a:xfrm>
          <a:prstGeom prst="rect">
            <a:avLst/>
          </a:prstGeom>
          <a:noFill/>
          <a:ln/>
        </p:spPr>
        <p:txBody>
          <a:bodyPr wrap="square" rtlCol="0" anchor="ctr"/>
          <a:lstStyle/>
          <a:p>
            <a:pPr algn="ctr" indent="0" marL="0">
              <a:buNone/>
            </a:pPr>
            <a:r>
              <a:rPr lang="en-US" sz="1600" dirty="0">
                <a:solidFill>
                  <a:srgbClr val="E8E1D8"/>
                </a:solidFill>
                <a:latin typeface="Arial" pitchFamily="34" charset="0"/>
                <a:ea typeface="Arial" pitchFamily="34" charset="-122"/>
                <a:cs typeface="Arial" pitchFamily="34" charset="-120"/>
              </a:rPr>
              <a:t>2029</a:t>
            </a:r>
            <a:endParaRPr lang="en-US" sz="1600" dirty="0"/>
          </a:p>
        </p:txBody>
      </p:sp>
      <p:sp>
        <p:nvSpPr>
          <p:cNvPr id="12" name="Text 10"/>
          <p:cNvSpPr txBox="1"/>
          <p:nvPr/>
        </p:nvSpPr>
        <p:spPr>
          <a:xfrm>
            <a:off x="7133167" y="3302000"/>
            <a:ext cx="1524000" cy="508000"/>
          </a:xfrm>
          <a:prstGeom prst="rect">
            <a:avLst/>
          </a:prstGeom>
          <a:noFill/>
          <a:ln/>
        </p:spPr>
        <p:txBody>
          <a:bodyPr wrap="square" rtlCol="0" anchor="ctr"/>
          <a:lstStyle/>
          <a:p>
            <a:pPr algn="ctr" indent="0" marL="0">
              <a:buNone/>
            </a:pPr>
            <a:r>
              <a:rPr lang="en-US" sz="1600" dirty="0">
                <a:solidFill>
                  <a:srgbClr val="E8E1D8"/>
                </a:solidFill>
                <a:latin typeface="Arial" pitchFamily="34" charset="0"/>
                <a:ea typeface="Arial" pitchFamily="34" charset="-122"/>
                <a:cs typeface="Arial" pitchFamily="34" charset="-120"/>
              </a:rPr>
              <a:t>Ausbau</a:t>
            </a:r>
            <a:endParaRPr lang="en-US" sz="1600" dirty="0"/>
          </a:p>
        </p:txBody>
      </p:sp>
      <p:sp>
        <p:nvSpPr>
          <p:cNvPr id="13" name="Shape 11"/>
          <p:cNvSpPr/>
          <p:nvPr/>
        </p:nvSpPr>
        <p:spPr>
          <a:xfrm>
            <a:off x="11417300" y="2667000"/>
            <a:ext cx="152400" cy="152400"/>
          </a:xfrm>
          <a:prstGeom prst="ellipse">
            <a:avLst/>
          </a:prstGeom>
          <a:solidFill>
            <a:srgbClr val="D97B3E"/>
          </a:solidFill>
          <a:ln/>
        </p:spPr>
      </p:sp>
      <p:sp>
        <p:nvSpPr>
          <p:cNvPr id="14" name="Text 12"/>
          <p:cNvSpPr txBox="1"/>
          <p:nvPr/>
        </p:nvSpPr>
        <p:spPr>
          <a:xfrm>
            <a:off x="9969500" y="2946400"/>
            <a:ext cx="1524000" cy="330200"/>
          </a:xfrm>
          <a:prstGeom prst="rect">
            <a:avLst/>
          </a:prstGeom>
          <a:noFill/>
          <a:ln/>
        </p:spPr>
        <p:txBody>
          <a:bodyPr wrap="square" rtlCol="0" anchor="ctr"/>
          <a:lstStyle/>
          <a:p>
            <a:pPr algn="r" indent="0" marL="0">
              <a:buNone/>
            </a:pPr>
            <a:r>
              <a:rPr lang="en-US" sz="1600" dirty="0">
                <a:solidFill>
                  <a:srgbClr val="E8E1D8"/>
                </a:solidFill>
                <a:latin typeface="Arial" pitchFamily="34" charset="0"/>
                <a:ea typeface="Arial" pitchFamily="34" charset="-122"/>
                <a:cs typeface="Arial" pitchFamily="34" charset="-120"/>
              </a:rPr>
              <a:t>2030</a:t>
            </a:r>
            <a:endParaRPr lang="en-US" sz="1600" dirty="0"/>
          </a:p>
        </p:txBody>
      </p:sp>
      <p:sp>
        <p:nvSpPr>
          <p:cNvPr id="15" name="Text 13"/>
          <p:cNvSpPr txBox="1"/>
          <p:nvPr/>
        </p:nvSpPr>
        <p:spPr>
          <a:xfrm>
            <a:off x="9969500" y="3302000"/>
            <a:ext cx="1524000" cy="508000"/>
          </a:xfrm>
          <a:prstGeom prst="rect">
            <a:avLst/>
          </a:prstGeom>
          <a:noFill/>
          <a:ln/>
        </p:spPr>
        <p:txBody>
          <a:bodyPr wrap="square" rtlCol="0" anchor="ctr"/>
          <a:lstStyle/>
          <a:p>
            <a:pPr algn="r" indent="0" marL="0">
              <a:buNone/>
            </a:pPr>
            <a:r>
              <a:rPr lang="en-US" sz="1600" dirty="0">
                <a:solidFill>
                  <a:srgbClr val="E8E1D8"/>
                </a:solidFill>
                <a:latin typeface="Arial" pitchFamily="34" charset="0"/>
                <a:ea typeface="Arial" pitchFamily="34" charset="-122"/>
                <a:cs typeface="Arial" pitchFamily="34" charset="-120"/>
              </a:rPr>
              <a:t>Ziel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nchor="t"/>
          <a:lstStyle/>
          <a:p>
            <a:pPr algn="l" indent="0" marL="0">
              <a:buNone/>
            </a:pPr>
            <a:r>
              <a:rPr lang="en-US" sz="4000" b="1" dirty="0">
                <a:solidFill>
                  <a:srgbClr val="E8E1D8"/>
                </a:solidFill>
                <a:latin typeface="Arial" pitchFamily="34" charset="0"/>
                <a:ea typeface="Arial" pitchFamily="34" charset="-122"/>
                <a:cs typeface="Arial" pitchFamily="34" charset="-120"/>
              </a:rPr>
              <a:t>Die heißesten Straßen bekommen zuerst Bäume</a:t>
            </a:r>
            <a:endParaRPr lang="en-US" sz="4000" dirty="0"/>
          </a:p>
        </p:txBody>
      </p:sp>
      <p:graphicFrame>
        <p:nvGraphicFramePr>
          <p:cNvPr id="3" name="Chart 0" descr="Balkendiagramm: Die heißesten Straßen bekommen zuerst Bäume. Werte: Zentrum 42, Ostend 35, Vorstadt 27, Ring 19. Wärmebelastungstage pro Jahr"/>
          <p:cNvGraphicFramePr/>
          <p:nvPr/>
        </p:nvGraphicFramePr>
        <p:xfrm>
          <a:off x="609600" y="2108200"/>
          <a:ext cx="10972749" cy="330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9600" y="5918200"/>
            <a:ext cx="8890000" cy="457200"/>
          </a:xfrm>
          <a:prstGeom prst="rect">
            <a:avLst/>
          </a:prstGeom>
          <a:noFill/>
          <a:ln/>
        </p:spPr>
        <p:txBody>
          <a:bodyPr wrap="square" rtlCol="0" anchor="t"/>
          <a:lstStyle/>
          <a:p>
            <a:pPr algn="l" indent="0" marL="0">
              <a:buNone/>
            </a:pPr>
            <a:r>
              <a:rPr lang="en-US" sz="1200" dirty="0">
                <a:solidFill>
                  <a:srgbClr val="E8E1D8"/>
                </a:solidFill>
                <a:latin typeface="Arial" pitchFamily="34" charset="0"/>
                <a:ea typeface="Arial" pitchFamily="34" charset="-122"/>
                <a:cs typeface="Arial" pitchFamily="34" charset="-120"/>
              </a:rPr>
              <a:t>Quelle: Beispieldaten (Wärmebelastungstage/Jahr), nicht real erhoben · 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09600" y="812800"/>
            <a:ext cx="10972800" cy="736600"/>
          </a:xfrm>
          <a:prstGeom prst="rect">
            <a:avLst/>
          </a:prstGeom>
          <a:noFill/>
          <a:ln/>
        </p:spPr>
        <p:txBody>
          <a:bodyPr wrap="square" rtlCol="0" anchor="t"/>
          <a:lstStyle/>
          <a:p>
            <a:pPr algn="l" indent="0" marL="0">
              <a:buNone/>
            </a:pPr>
            <a:r>
              <a:rPr lang="en-US" sz="4000" b="1" dirty="0">
                <a:solidFill>
                  <a:srgbClr val="E8E1D8"/>
                </a:solidFill>
                <a:latin typeface="Arial" pitchFamily="34" charset="0"/>
                <a:ea typeface="Arial" pitchFamily="34" charset="-122"/>
                <a:cs typeface="Arial" pitchFamily="34" charset="-120"/>
              </a:rPr>
              <a:t>Ein Straßenbaum kostet weniger als Kühlung</a:t>
            </a:r>
            <a:endParaRPr lang="en-US" sz="4000" dirty="0"/>
          </a:p>
        </p:txBody>
      </p:sp>
      <p:sp>
        <p:nvSpPr>
          <p:cNvPr id="3" name="Text 1"/>
          <p:cNvSpPr txBox="1"/>
          <p:nvPr/>
        </p:nvSpPr>
        <p:spPr>
          <a:xfrm>
            <a:off x="609600" y="2235200"/>
            <a:ext cx="4453446" cy="2159000"/>
          </a:xfrm>
          <a:prstGeom prst="rect">
            <a:avLst/>
          </a:prstGeom>
          <a:noFill/>
          <a:ln/>
        </p:spPr>
        <p:txBody>
          <a:bodyPr wrap="square" rtlCol="0" anchor="t"/>
          <a:lstStyle/>
          <a:p>
            <a:pPr algn="l" indent="0" marL="0">
              <a:buNone/>
            </a:pPr>
            <a:r>
              <a:rPr lang="en-US" sz="9600" b="1" dirty="0">
                <a:solidFill>
                  <a:srgbClr val="D97B3E"/>
                </a:solidFill>
                <a:latin typeface="Arial" pitchFamily="34" charset="0"/>
                <a:ea typeface="Arial" pitchFamily="34" charset="-122"/>
                <a:cs typeface="Arial" pitchFamily="34" charset="-120"/>
              </a:rPr>
              <a:t>4×</a:t>
            </a:r>
            <a:endParaRPr lang="en-US" sz="9600" dirty="0"/>
          </a:p>
        </p:txBody>
      </p:sp>
      <p:sp>
        <p:nvSpPr>
          <p:cNvPr id="4" name="Text 2"/>
          <p:cNvSpPr txBox="1"/>
          <p:nvPr/>
        </p:nvSpPr>
        <p:spPr>
          <a:xfrm>
            <a:off x="6197575" y="2997200"/>
            <a:ext cx="5384775" cy="1778000"/>
          </a:xfrm>
          <a:prstGeom prst="rect">
            <a:avLst/>
          </a:prstGeom>
          <a:noFill/>
          <a:ln/>
        </p:spPr>
        <p:txBody>
          <a:bodyPr wrap="square" rtlCol="0" anchor="t"/>
          <a:lstStyle/>
          <a:p>
            <a:pPr algn="l" indent="0" marL="0">
              <a:buNone/>
            </a:pPr>
            <a:r>
              <a:rPr lang="en-US" sz="2400" dirty="0">
                <a:solidFill>
                  <a:srgbClr val="E8E1D8"/>
                </a:solidFill>
                <a:latin typeface="Arial" pitchFamily="34" charset="0"/>
                <a:ea typeface="Arial" pitchFamily="34" charset="-122"/>
                <a:cs typeface="Arial" pitchFamily="34" charset="-120"/>
              </a:rPr>
              <a:t>Weniger Folgekosten als anteilige Kühltechnik</a:t>
            </a:r>
            <a:endParaRPr lang="en-US" sz="2400" dirty="0"/>
          </a:p>
        </p:txBody>
      </p:sp>
      <p:sp>
        <p:nvSpPr>
          <p:cNvPr id="5" name="Text 3"/>
          <p:cNvSpPr txBox="1"/>
          <p:nvPr/>
        </p:nvSpPr>
        <p:spPr>
          <a:xfrm>
            <a:off x="609600" y="5918200"/>
            <a:ext cx="8890000" cy="457200"/>
          </a:xfrm>
          <a:prstGeom prst="rect">
            <a:avLst/>
          </a:prstGeom>
          <a:noFill/>
          <a:ln/>
        </p:spPr>
        <p:txBody>
          <a:bodyPr wrap="square" rtlCol="0" anchor="t"/>
          <a:lstStyle/>
          <a:p>
            <a:pPr algn="l" indent="0" marL="0">
              <a:buNone/>
            </a:pPr>
            <a:r>
              <a:rPr lang="en-US" sz="1200" dirty="0">
                <a:solidFill>
                  <a:srgbClr val="E8E1D8"/>
                </a:solidFill>
                <a:latin typeface="Arial" pitchFamily="34" charset="0"/>
                <a:ea typeface="Arial" pitchFamily="34" charset="-122"/>
                <a:cs typeface="Arial" pitchFamily="34" charset="-120"/>
              </a:rPr>
              <a:t>Quelle: Beispieldaten zur Illustration, nicht real erhoben · 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219200" y="4089400"/>
            <a:ext cx="9753600" cy="2133600"/>
          </a:xfrm>
          <a:prstGeom prst="rect">
            <a:avLst/>
          </a:prstGeom>
          <a:noFill/>
          <a:ln/>
        </p:spPr>
        <p:txBody>
          <a:bodyPr wrap="square" rtlCol="0" anchor="t"/>
          <a:lstStyle/>
          <a:p>
            <a:pPr algn="l" indent="0" marL="0">
              <a:buNone/>
            </a:pPr>
            <a:r>
              <a:rPr lang="en-US" sz="5000" b="1" dirty="0">
                <a:solidFill>
                  <a:srgbClr val="E8E1D8"/>
                </a:solidFill>
                <a:latin typeface="Arial" pitchFamily="34" charset="0"/>
                <a:ea typeface="Arial" pitchFamily="34" charset="-122"/>
                <a:cs typeface="Arial" pitchFamily="34" charset="-120"/>
              </a:rPr>
              <a:t>Beschließen Sie heute 5.000 neue Bäume</a:t>
            </a:r>
            <a:endParaRPr lang="en-US" sz="5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2026-09-25T20:25:28Z</dcterms:created>
  <dcterms:modified xsi:type="dcterms:W3CDTF">2026-09-25T20:25:28Z</dcterms:modified>
</cp:coreProperties>
</file>